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70" r:id="rId10"/>
    <p:sldId id="272" r:id="rId11"/>
    <p:sldId id="273" r:id="rId12"/>
    <p:sldId id="263" r:id="rId13"/>
    <p:sldId id="274" r:id="rId14"/>
    <p:sldId id="265" r:id="rId15"/>
    <p:sldId id="266" r:id="rId16"/>
    <p:sldId id="267" r:id="rId17"/>
    <p:sldId id="268" r:id="rId18"/>
    <p:sldId id="269" r:id="rId19"/>
  </p:sld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5A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302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60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9576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3963B-F055-0C7D-4316-052D4CD84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0A6FF3-FF9B-F4F1-1141-C195E953E9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0A7560-829F-FDEA-BC6F-C7DC841F89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B3FB8D-A08B-C5F8-8E49-4196157C24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6252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37398-AE91-7290-B820-BE3A911C5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741A7-AA18-3167-2B01-6CBAD6AE19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B4C41-E122-AE47-FAE7-6870828AE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269FB5-5AC6-893E-2ADD-29E990B09D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4295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AC82F-3AEE-C513-9BF6-898A9CF1A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F342CA-EA75-B2CC-21D1-8CBE817D3D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24637-4BAC-3AE1-6F68-9853A110FA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0D415-73D2-A47D-BC92-F71D441D36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466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4.png"/><Relationship Id="rId5" Type="http://schemas.openxmlformats.org/officeDocument/2006/relationships/image" Target="../media/image9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30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8.png"/><Relationship Id="rId5" Type="http://schemas.openxmlformats.org/officeDocument/2006/relationships/image" Target="../media/image23.png"/><Relationship Id="rId10" Type="http://schemas.openxmlformats.org/officeDocument/2006/relationships/image" Target="../media/image27.png"/><Relationship Id="rId4" Type="http://schemas.openxmlformats.org/officeDocument/2006/relationships/image" Target="../media/image11.png"/><Relationship Id="rId9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5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21.png"/><Relationship Id="rId4" Type="http://schemas.openxmlformats.org/officeDocument/2006/relationships/image" Target="../media/image39.png"/><Relationship Id="rId9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1.png"/><Relationship Id="rId7" Type="http://schemas.openxmlformats.org/officeDocument/2006/relationships/image" Target="../media/image45.png"/><Relationship Id="rId12" Type="http://schemas.openxmlformats.org/officeDocument/2006/relationships/image" Target="../media/image4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11" Type="http://schemas.openxmlformats.org/officeDocument/2006/relationships/image" Target="../media/image14.png"/><Relationship Id="rId5" Type="http://schemas.openxmlformats.org/officeDocument/2006/relationships/image" Target="../media/image43.png"/><Relationship Id="rId10" Type="http://schemas.openxmlformats.org/officeDocument/2006/relationships/image" Target="../media/image47.png"/><Relationship Id="rId4" Type="http://schemas.openxmlformats.org/officeDocument/2006/relationships/image" Target="../media/image42.png"/><Relationship Id="rId9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11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731520"/>
            <a:ext cx="566928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481328" y="768096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697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89B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OFFICE MANAGER  ·  PRODUCT CAPSTONE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063240"/>
            <a:ext cx="85953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office manager for home &amp; local service businesses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257800"/>
            <a:ext cx="8138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B6C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 answers every call, books the job into your field-service schedule, and follows up — so owner-operators stop losing revenue to the competitor who picked up first.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70866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Francis</a:t>
            </a:r>
            <a:r>
              <a:rPr lang="en-US" sz="1300" dirty="0">
                <a:solidFill>
                  <a:srgbClr val="89B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Designed, built &amp; deployed — website · customer app · test harness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9829800" y="2743200"/>
            <a:ext cx="3977640" cy="3566160"/>
          </a:xfrm>
          <a:prstGeom prst="roundRect">
            <a:avLst>
              <a:gd name="adj" fmla="val 3077"/>
            </a:avLst>
          </a:prstGeom>
          <a:solidFill>
            <a:srgbClr val="0A36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0104120" y="3063240"/>
            <a:ext cx="658368" cy="658368"/>
          </a:xfrm>
          <a:prstGeom prst="roundRect">
            <a:avLst>
              <a:gd name="adj" fmla="val 16667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assets/icons/phone-ca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2128" y="3221248"/>
            <a:ext cx="342351" cy="34235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927080" y="30815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every call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0927080" y="341071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6C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24/7, natural conversation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10104120" y="4133088"/>
            <a:ext cx="658368" cy="658368"/>
          </a:xfrm>
          <a:prstGeom prst="roundRect">
            <a:avLst>
              <a:gd name="adj" fmla="val 16667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assets/icons/calendar-check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62128" y="4291096"/>
            <a:ext cx="342351" cy="34235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27080" y="415137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Books into your FSM (Soon)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10927080" y="44805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6C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Jobber · Housecall Pro · ServiceTitan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104120" y="5202936"/>
            <a:ext cx="658368" cy="658368"/>
          </a:xfrm>
          <a:prstGeom prst="roundRect">
            <a:avLst>
              <a:gd name="adj" fmla="val 16667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assets/icons/briefcas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2128" y="5360944"/>
            <a:ext cx="342351" cy="34235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927080" y="5221224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Office-manager scope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10927080" y="5550408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6C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Text-back, follow-up, triage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12064"/>
            <a:ext cx="1170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04672"/>
            <a:ext cx="11704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missed call is a lost job</a:t>
            </a:r>
            <a:endParaRPr lang="en-US" sz="2900" dirty="0"/>
          </a:p>
        </p:txBody>
      </p:sp>
      <p:pic>
        <p:nvPicPr>
          <p:cNvPr id="4" name="Image 0" descr="assets/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4832" y="493776"/>
            <a:ext cx="347472" cy="3474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463040"/>
            <a:ext cx="1234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Owner-operators are in the field, not by the phone — and the leak is invisible until you add it up.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148840"/>
            <a:ext cx="2414016" cy="2103120"/>
          </a:xfrm>
          <a:prstGeom prst="roundRect">
            <a:avLst>
              <a:gd name="adj" fmla="val 4348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914400" y="2404872"/>
            <a:ext cx="22311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950976" y="3246120"/>
            <a:ext cx="215798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inbound calls go unanswered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959352"/>
            <a:ext cx="2231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Invoca, 2026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465576" y="2148840"/>
            <a:ext cx="2414016" cy="2103120"/>
          </a:xfrm>
          <a:prstGeom prst="roundRect">
            <a:avLst>
              <a:gd name="adj" fmla="val 4348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3557016" y="2404872"/>
            <a:ext cx="22311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52%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3593592" y="3246120"/>
            <a:ext cx="215798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answered by a live person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557016" y="3959352"/>
            <a:ext cx="2231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Invoca, 2026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108192" y="2148840"/>
            <a:ext cx="2414016" cy="2103120"/>
          </a:xfrm>
          <a:prstGeom prst="roundRect">
            <a:avLst>
              <a:gd name="adj" fmla="val 4348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6199632" y="2404872"/>
            <a:ext cx="22311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62%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6236208" y="3246120"/>
            <a:ext cx="215798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missed callers call a competitor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199632" y="3959352"/>
            <a:ext cx="2231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Benchmarks, 2026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750808" y="2148840"/>
            <a:ext cx="2414016" cy="2103120"/>
          </a:xfrm>
          <a:prstGeom prst="roundRect">
            <a:avLst>
              <a:gd name="adj" fmla="val 4348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8842248" y="2404872"/>
            <a:ext cx="22311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3600" dirty="0"/>
          </a:p>
        </p:txBody>
      </p:sp>
      <p:sp>
        <p:nvSpPr>
          <p:cNvPr id="20" name="Text 17"/>
          <p:cNvSpPr txBox="1"/>
          <p:nvPr/>
        </p:nvSpPr>
        <p:spPr>
          <a:xfrm>
            <a:off x="8878824" y="3246120"/>
            <a:ext cx="215798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those never call back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842248" y="3959352"/>
            <a:ext cx="2231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Benchmarks, 2026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11393424" y="2148840"/>
            <a:ext cx="2414016" cy="2103120"/>
          </a:xfrm>
          <a:prstGeom prst="roundRect">
            <a:avLst>
              <a:gd name="adj" fmla="val 4348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11484864" y="2404872"/>
            <a:ext cx="22311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13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~$1,200</a:t>
            </a:r>
            <a:endParaRPr lang="en-US" sz="3600" dirty="0"/>
          </a:p>
        </p:txBody>
      </p:sp>
      <p:sp>
        <p:nvSpPr>
          <p:cNvPr id="24" name="Text 21"/>
          <p:cNvSpPr txBox="1"/>
          <p:nvPr/>
        </p:nvSpPr>
        <p:spPr>
          <a:xfrm>
            <a:off x="11521440" y="3246120"/>
            <a:ext cx="215798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value of one missed call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1484864" y="3959352"/>
            <a:ext cx="2231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Invoca, 2026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22960" y="4709160"/>
            <a:ext cx="12984480" cy="1371600"/>
          </a:xfrm>
          <a:prstGeom prst="roundRect">
            <a:avLst>
              <a:gd name="adj" fmla="val 8000"/>
            </a:avLst>
          </a:prstGeom>
          <a:solidFill>
            <a:srgbClr val="E7EFFC"/>
          </a:solidFill>
          <a:ln w="12700">
            <a:solidFill>
              <a:srgbClr val="B6C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1188720" y="509320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1" descr="assets/icons/triangle-aler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561" y="5238049"/>
            <a:ext cx="313822" cy="313822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057400" y="4965192"/>
            <a:ext cx="11384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 ten calls a week at ~$1,200 each </a:t>
            </a:r>
            <a:r>
              <a:rPr lang="en-US" sz="15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that's six figures a year walking to the competitor who picked up first. Voicemail doesn't save it — most callers just dial the next company.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822960" y="6355080"/>
            <a:ext cx="1234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home services: a ~$600B industry, ~2.5M businesses — most of them running on inbound calls.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822960" y="7818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handled.ai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11978640" y="7818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12064"/>
            <a:ext cx="1170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</a:t>
            </a:r>
            <a:r>
              <a:rPr lang="en-US" sz="1200" b="1" kern="0" spc="150" dirty="0">
                <a:solidFill>
                  <a:srgbClr val="10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MATTERS</a:t>
            </a:r>
            <a:endParaRPr lang="en-US" sz="1200" dirty="0">
              <a:solidFill>
                <a:srgbClr val="105ACB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822960" y="804672"/>
            <a:ext cx="11704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$600B market — and the pain is already paid for</a:t>
            </a:r>
            <a:endParaRPr lang="en-US" sz="2900" dirty="0"/>
          </a:p>
        </p:txBody>
      </p:sp>
      <p:pic>
        <p:nvPicPr>
          <p:cNvPr id="4" name="Image 0" descr="assets/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4832" y="493776"/>
            <a:ext cx="347472" cy="3474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463040"/>
            <a:ext cx="1234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buyers already feel the missed-call pain, and already pay for software every month.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377440"/>
            <a:ext cx="408432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88720" y="2761488"/>
            <a:ext cx="713232" cy="713232"/>
          </a:xfrm>
          <a:prstGeom prst="roundRect">
            <a:avLst>
              <a:gd name="adj" fmla="val 15385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assets/icons/target_115A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9896" y="2932664"/>
            <a:ext cx="370881" cy="37088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88720" y="3657600"/>
            <a:ext cx="335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1188720" y="4251960"/>
            <a:ext cx="3398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~2.5M US home-service businesses</a:t>
            </a:r>
            <a:endParaRPr lang="en-US" sz="130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is on a roof or under a sink — can't answer</a:t>
            </a:r>
            <a:endParaRPr lang="en-US" sz="130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Can't justify a $42–62K/yr office manager</a:t>
            </a:r>
            <a:endParaRPr lang="en-US" sz="130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 is the affordable middle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273040" y="2377440"/>
            <a:ext cx="408432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638800" y="2761488"/>
            <a:ext cx="713232" cy="713232"/>
          </a:xfrm>
          <a:prstGeom prst="roundRect">
            <a:avLst>
              <a:gd name="adj" fmla="val 15385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assets/icons/trending-up_115A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9976" y="2932664"/>
            <a:ext cx="370881" cy="37088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638800" y="3657600"/>
            <a:ext cx="335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5638800" y="4251960"/>
            <a:ext cx="3398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FSM software ~$3.1B in the US, growing ~12%/yr</a:t>
            </a:r>
            <a:endParaRPr lang="en-US" sz="130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AI-voice slice is growing 25–40%/yr</a:t>
            </a:r>
            <a:endParaRPr lang="en-US" sz="130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Incumbents own voice quality — </a:t>
            </a:r>
            <a:r>
              <a:rPr lang="en-US" sz="1300" b="1" dirty="0">
                <a:solidFill>
                  <a:srgbClr val="10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workflow depth</a:t>
            </a:r>
            <a:endParaRPr lang="en-US" sz="1300" b="1" dirty="0">
              <a:solidFill>
                <a:srgbClr val="105ACB"/>
              </a:solidFill>
            </a:endParaRPr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1300" b="1" dirty="0">
                <a:solidFill>
                  <a:srgbClr val="10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wedge is depth</a:t>
            </a: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it's open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9723120" y="2377440"/>
            <a:ext cx="408432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10088880" y="2761488"/>
            <a:ext cx="713232" cy="713232"/>
          </a:xfrm>
          <a:prstGeom prst="roundRect">
            <a:avLst>
              <a:gd name="adj" fmla="val 15385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assets/icons/scale_115AC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0056" y="2932664"/>
            <a:ext cx="370881" cy="37088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088880" y="3657600"/>
            <a:ext cx="335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size</a:t>
            </a:r>
            <a:endParaRPr lang="en-US" sz="1900" dirty="0"/>
          </a:p>
        </p:txBody>
      </p:sp>
      <p:sp>
        <p:nvSpPr>
          <p:cNvPr id="20" name="Text 14"/>
          <p:cNvSpPr txBox="1"/>
          <p:nvPr/>
        </p:nvSpPr>
        <p:spPr>
          <a:xfrm>
            <a:off x="10088880" y="4251960"/>
            <a:ext cx="3398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 ~$600B industry (~$5–10B software)</a:t>
            </a:r>
            <a:endParaRPr lang="en-US" sz="130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 ~$3B  (~1M businesses with call volume)</a:t>
            </a:r>
            <a:endParaRPr lang="en-US" sz="130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 $15–60M ARR  (5k–20k shops, 3-yr)</a:t>
            </a:r>
            <a:endParaRPr lang="en-US" sz="130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$249/mo blended ACV ≈ $3K/yr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822960" y="7818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handled.ai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1978640" y="7818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12064"/>
            <a:ext cx="1170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04672"/>
            <a:ext cx="11704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Answer. Book. Follow up.</a:t>
            </a:r>
            <a:endParaRPr lang="en-US" sz="2900" dirty="0"/>
          </a:p>
        </p:txBody>
      </p:sp>
      <p:pic>
        <p:nvPicPr>
          <p:cNvPr id="4" name="Image 0" descr="assets/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4832" y="493776"/>
            <a:ext cx="347472" cy="3474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463040"/>
            <a:ext cx="1261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Open-ended request in, a real booked job out — that's planning + tool use + dialog, the definition of an agent.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331720"/>
            <a:ext cx="1828800" cy="2148840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408176" y="2606040"/>
            <a:ext cx="658368" cy="658368"/>
          </a:xfrm>
          <a:prstGeom prst="roundRect">
            <a:avLst>
              <a:gd name="adj" fmla="val 16667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assets/icons/phone-ca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184" y="2764048"/>
            <a:ext cx="342351" cy="34235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50976" y="247802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341071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932688" y="3794760"/>
            <a:ext cx="16093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24/7, no phone tree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688336" y="3406140"/>
            <a:ext cx="329184" cy="0"/>
          </a:xfrm>
          <a:prstGeom prst="line">
            <a:avLst/>
          </a:prstGeom>
          <a:noFill/>
          <a:ln w="19050">
            <a:solidFill>
              <a:srgbClr val="8F91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3054096" y="2331720"/>
            <a:ext cx="1828800" cy="2148840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3639312" y="2606040"/>
            <a:ext cx="658368" cy="658368"/>
          </a:xfrm>
          <a:prstGeom prst="roundRect">
            <a:avLst>
              <a:gd name="adj" fmla="val 16667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assets/icons/bo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7320" y="2764048"/>
            <a:ext cx="342351" cy="34235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182112" y="247802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145536" y="341071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3163824" y="3794760"/>
            <a:ext cx="16093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+ urgency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919472" y="3406140"/>
            <a:ext cx="329184" cy="0"/>
          </a:xfrm>
          <a:prstGeom prst="line">
            <a:avLst/>
          </a:prstGeom>
          <a:noFill/>
          <a:ln w="19050">
            <a:solidFill>
              <a:srgbClr val="8F91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5285232" y="2331720"/>
            <a:ext cx="1828800" cy="2148840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5870448" y="2606040"/>
            <a:ext cx="658368" cy="658368"/>
          </a:xfrm>
          <a:prstGeom prst="roundRect">
            <a:avLst>
              <a:gd name="adj" fmla="val 16667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assets/icons/calendar-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28456" y="2764048"/>
            <a:ext cx="342351" cy="34235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413248" y="247802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376672" y="341071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slot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5394960" y="3794760"/>
            <a:ext cx="16093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FSM availability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7150608" y="3406140"/>
            <a:ext cx="329184" cy="0"/>
          </a:xfrm>
          <a:prstGeom prst="line">
            <a:avLst/>
          </a:prstGeom>
          <a:noFill/>
          <a:ln w="19050">
            <a:solidFill>
              <a:srgbClr val="8F91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7516368" y="2331720"/>
            <a:ext cx="1828800" cy="2148840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2"/>
          <p:cNvSpPr/>
          <p:nvPr/>
        </p:nvSpPr>
        <p:spPr>
          <a:xfrm>
            <a:off x="8101584" y="2606040"/>
            <a:ext cx="658368" cy="658368"/>
          </a:xfrm>
          <a:prstGeom prst="roundRect">
            <a:avLst>
              <a:gd name="adj" fmla="val 16667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9" name="Image 4" descr="assets/icons/wrench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9592" y="2764048"/>
            <a:ext cx="342351" cy="342351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644384" y="247802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7607808" y="341071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job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7626096" y="3794760"/>
            <a:ext cx="16093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your FSM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9381744" y="3406140"/>
            <a:ext cx="329184" cy="0"/>
          </a:xfrm>
          <a:prstGeom prst="line">
            <a:avLst/>
          </a:prstGeom>
          <a:noFill/>
          <a:ln w="19050">
            <a:solidFill>
              <a:srgbClr val="8F91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27"/>
          <p:cNvSpPr/>
          <p:nvPr/>
        </p:nvSpPr>
        <p:spPr>
          <a:xfrm>
            <a:off x="9747504" y="2331720"/>
            <a:ext cx="1828800" cy="2148840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28"/>
          <p:cNvSpPr/>
          <p:nvPr/>
        </p:nvSpPr>
        <p:spPr>
          <a:xfrm>
            <a:off x="10332720" y="2606040"/>
            <a:ext cx="658368" cy="658368"/>
          </a:xfrm>
          <a:prstGeom prst="roundRect">
            <a:avLst>
              <a:gd name="adj" fmla="val 16667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6" name="Image 5" descr="assets/icons/message-square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90728" y="2764048"/>
            <a:ext cx="342351" cy="342351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875520" y="247802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38" name="Text 30"/>
          <p:cNvSpPr txBox="1"/>
          <p:nvPr/>
        </p:nvSpPr>
        <p:spPr>
          <a:xfrm>
            <a:off x="9838944" y="341071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</a:t>
            </a:r>
            <a:endParaRPr lang="en-US" sz="1500" dirty="0"/>
          </a:p>
        </p:txBody>
      </p:sp>
      <p:sp>
        <p:nvSpPr>
          <p:cNvPr id="39" name="Text 31"/>
          <p:cNvSpPr txBox="1"/>
          <p:nvPr/>
        </p:nvSpPr>
        <p:spPr>
          <a:xfrm>
            <a:off x="9857232" y="3794760"/>
            <a:ext cx="16093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verbatim by SMS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11612880" y="3406140"/>
            <a:ext cx="329184" cy="0"/>
          </a:xfrm>
          <a:prstGeom prst="line">
            <a:avLst/>
          </a:prstGeom>
          <a:noFill/>
          <a:ln w="19050">
            <a:solidFill>
              <a:srgbClr val="8F91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3"/>
          <p:cNvSpPr/>
          <p:nvPr/>
        </p:nvSpPr>
        <p:spPr>
          <a:xfrm>
            <a:off x="11978640" y="2331720"/>
            <a:ext cx="1828800" cy="2148840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4"/>
          <p:cNvSpPr/>
          <p:nvPr/>
        </p:nvSpPr>
        <p:spPr>
          <a:xfrm>
            <a:off x="12563856" y="2606040"/>
            <a:ext cx="658368" cy="658368"/>
          </a:xfrm>
          <a:prstGeom prst="roundRect">
            <a:avLst>
              <a:gd name="adj" fmla="val 16667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3" name="Image 6" descr="assets/icons/file-text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721864" y="2764048"/>
            <a:ext cx="342351" cy="342351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2106656" y="247802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45" name="Text 36"/>
          <p:cNvSpPr txBox="1"/>
          <p:nvPr/>
        </p:nvSpPr>
        <p:spPr>
          <a:xfrm>
            <a:off x="12070080" y="341071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Notify</a:t>
            </a:r>
            <a:endParaRPr lang="en-US" sz="1500" dirty="0"/>
          </a:p>
        </p:txBody>
      </p:sp>
      <p:sp>
        <p:nvSpPr>
          <p:cNvPr id="46" name="Text 37"/>
          <p:cNvSpPr txBox="1"/>
          <p:nvPr/>
        </p:nvSpPr>
        <p:spPr>
          <a:xfrm>
            <a:off x="12088368" y="3794760"/>
            <a:ext cx="16093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to owner</a:t>
            </a:r>
            <a:endParaRPr lang="en-US" sz="1100" dirty="0"/>
          </a:p>
        </p:txBody>
      </p:sp>
      <p:sp>
        <p:nvSpPr>
          <p:cNvPr id="47" name="Shape 38"/>
          <p:cNvSpPr/>
          <p:nvPr/>
        </p:nvSpPr>
        <p:spPr>
          <a:xfrm>
            <a:off x="822960" y="4983480"/>
            <a:ext cx="40843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39"/>
          <p:cNvSpPr/>
          <p:nvPr/>
        </p:nvSpPr>
        <p:spPr>
          <a:xfrm>
            <a:off x="1143000" y="530352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9" name="Image 7" descr="assets/icons/shield-check_115AC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4674" y="5435194"/>
            <a:ext cx="285293" cy="285293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1828800" y="5367528"/>
            <a:ext cx="289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invents</a:t>
            </a:r>
            <a:endParaRPr lang="en-US" sz="1500" dirty="0"/>
          </a:p>
        </p:txBody>
      </p:sp>
      <p:sp>
        <p:nvSpPr>
          <p:cNvPr id="51" name="Text 41"/>
          <p:cNvSpPr txBox="1"/>
          <p:nvPr/>
        </p:nvSpPr>
        <p:spPr>
          <a:xfrm>
            <a:off x="1143000" y="6035040"/>
            <a:ext cx="344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&amp; availability come from your config and live tools — never the model's memory.</a:t>
            </a:r>
            <a:endParaRPr lang="en-US" sz="1200" dirty="0"/>
          </a:p>
        </p:txBody>
      </p:sp>
      <p:sp>
        <p:nvSpPr>
          <p:cNvPr id="52" name="Shape 42"/>
          <p:cNvSpPr/>
          <p:nvPr/>
        </p:nvSpPr>
        <p:spPr>
          <a:xfrm>
            <a:off x="5273040" y="4983480"/>
            <a:ext cx="40843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43"/>
          <p:cNvSpPr/>
          <p:nvPr/>
        </p:nvSpPr>
        <p:spPr>
          <a:xfrm>
            <a:off x="5593080" y="530352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4" name="Image 8" descr="assets/icons/file-text_115AC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24754" y="5435194"/>
            <a:ext cx="285293" cy="285293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6278880" y="5367528"/>
            <a:ext cx="289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explainable</a:t>
            </a:r>
            <a:endParaRPr lang="en-US" sz="1500" dirty="0"/>
          </a:p>
        </p:txBody>
      </p:sp>
      <p:sp>
        <p:nvSpPr>
          <p:cNvPr id="56" name="Text 45"/>
          <p:cNvSpPr txBox="1"/>
          <p:nvPr/>
        </p:nvSpPr>
        <p:spPr>
          <a:xfrm>
            <a:off x="5593080" y="6035040"/>
            <a:ext cx="344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conversation yields a transcript, a structured summary, and the tool calls made.</a:t>
            </a:r>
            <a:endParaRPr lang="en-US" sz="1200" dirty="0"/>
          </a:p>
        </p:txBody>
      </p:sp>
      <p:sp>
        <p:nvSpPr>
          <p:cNvPr id="57" name="Shape 46"/>
          <p:cNvSpPr/>
          <p:nvPr/>
        </p:nvSpPr>
        <p:spPr>
          <a:xfrm>
            <a:off x="9723120" y="4983480"/>
            <a:ext cx="40843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47"/>
          <p:cNvSpPr/>
          <p:nvPr/>
        </p:nvSpPr>
        <p:spPr>
          <a:xfrm>
            <a:off x="10043160" y="530352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9" name="Image 9" descr="assets/icons/badge-check_115AC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74834" y="5435194"/>
            <a:ext cx="285293" cy="285293"/>
          </a:xfrm>
          <a:prstGeom prst="rect">
            <a:avLst/>
          </a:prstGeom>
        </p:spPr>
      </p:pic>
      <p:sp>
        <p:nvSpPr>
          <p:cNvPr id="60" name="Text 48"/>
          <p:cNvSpPr txBox="1"/>
          <p:nvPr/>
        </p:nvSpPr>
        <p:spPr>
          <a:xfrm>
            <a:off x="10728960" y="5367528"/>
            <a:ext cx="289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before write</a:t>
            </a:r>
            <a:endParaRPr lang="en-US" sz="1500" dirty="0"/>
          </a:p>
        </p:txBody>
      </p:sp>
      <p:sp>
        <p:nvSpPr>
          <p:cNvPr id="61" name="Text 49"/>
          <p:cNvSpPr txBox="1"/>
          <p:nvPr/>
        </p:nvSpPr>
        <p:spPr>
          <a:xfrm>
            <a:off x="10043160" y="6035040"/>
            <a:ext cx="344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 read back verbatim and a re-check before booking — the owner can override.</a:t>
            </a:r>
            <a:endParaRPr lang="en-US" sz="1200" dirty="0"/>
          </a:p>
        </p:txBody>
      </p:sp>
      <p:sp>
        <p:nvSpPr>
          <p:cNvPr id="62" name="Text 50"/>
          <p:cNvSpPr txBox="1"/>
          <p:nvPr/>
        </p:nvSpPr>
        <p:spPr>
          <a:xfrm>
            <a:off x="822960" y="7818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handled.ai</a:t>
            </a:r>
            <a:endParaRPr lang="en-US" sz="1000" dirty="0"/>
          </a:p>
        </p:txBody>
      </p:sp>
      <p:sp>
        <p:nvSpPr>
          <p:cNvPr id="63" name="Text 51"/>
          <p:cNvSpPr txBox="1"/>
          <p:nvPr/>
        </p:nvSpPr>
        <p:spPr>
          <a:xfrm>
            <a:off x="11978640" y="7818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12064"/>
            <a:ext cx="1170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MOAT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04672"/>
            <a:ext cx="11704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Handled wins — and keeps winning</a:t>
            </a:r>
            <a:endParaRPr lang="en-US" sz="2900" dirty="0"/>
          </a:p>
        </p:txBody>
      </p:sp>
      <p:pic>
        <p:nvPicPr>
          <p:cNvPr id="4" name="Image 0" descr="assets/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4832" y="493776"/>
            <a:ext cx="347472" cy="3474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463040"/>
            <a:ext cx="1234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receptionist takes a message. Handled does the work that comes after “hello.”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148840"/>
            <a:ext cx="628650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88720" y="2532888"/>
            <a:ext cx="749808" cy="749808"/>
          </a:xfrm>
          <a:prstGeom prst="roundRect">
            <a:avLst>
              <a:gd name="adj" fmla="val 14634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assets/icons/calendar-check_115A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8674" y="2712842"/>
            <a:ext cx="389900" cy="389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48840" y="2560320"/>
            <a:ext cx="46863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8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Dispatch-grade FSM integration (Soon)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2148840" y="3246120"/>
            <a:ext cx="46863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Books the real job into Jobber, Housecall Pro, or ServiceTitan — respecting technician skills, live availability, and service area. Not a Google Calendar event.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520940" y="2148840"/>
            <a:ext cx="628650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7886700" y="2532888"/>
            <a:ext cx="749808" cy="749808"/>
          </a:xfrm>
          <a:prstGeom prst="roundRect">
            <a:avLst>
              <a:gd name="adj" fmla="val 14634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assets/icons/briefcase_115A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6654" y="2712842"/>
            <a:ext cx="389900" cy="389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846820" y="2560320"/>
            <a:ext cx="46863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8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Office-manager scope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8846820" y="3246120"/>
            <a:ext cx="46863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Missed-call text-back, quote follow-up, reminders, and review requests — all tied to the same job record. Expands revenue and raises switching cost.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22960" y="4709160"/>
            <a:ext cx="628650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1188720" y="5093208"/>
            <a:ext cx="749808" cy="749808"/>
          </a:xfrm>
          <a:prstGeom prst="roundRect">
            <a:avLst>
              <a:gd name="adj" fmla="val 14634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assets/icons/siren_D1343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8674" y="5273162"/>
            <a:ext cx="389900" cy="3899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2148840" y="5120640"/>
            <a:ext cx="46863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8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Trade-aware emergency triage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2148840" y="5806440"/>
            <a:ext cx="46863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Knows a burst pipe from a leaky faucet and escalates the real ones to the on-call tech. Biased toward escalation — a false alarm is cheap, a missed emergency is not.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7520940" y="4709160"/>
            <a:ext cx="628650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7886700" y="5093208"/>
            <a:ext cx="749808" cy="749808"/>
          </a:xfrm>
          <a:prstGeom prst="roundRect">
            <a:avLst>
              <a:gd name="adj" fmla="val 14634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4" descr="assets/icons/shield-check_13A10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6654" y="5273162"/>
            <a:ext cx="389900" cy="389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846820" y="5120640"/>
            <a:ext cx="46863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8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&amp; transparent pricing</a:t>
            </a:r>
            <a:endParaRPr lang="en-US" sz="1800" dirty="0"/>
          </a:p>
        </p:txBody>
      </p:sp>
      <p:sp>
        <p:nvSpPr>
          <p:cNvPr id="25" name="Text 18"/>
          <p:cNvSpPr txBox="1"/>
          <p:nvPr/>
        </p:nvSpPr>
        <p:spPr>
          <a:xfrm>
            <a:off x="8846820" y="5806440"/>
            <a:ext cx="46863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monthly price, a hard spend cap you control, and no charge for spam or hangups — answering the category's #1 complaint: surprise billing.</a:t>
            </a:r>
            <a:endParaRPr lang="en-US" sz="1250" dirty="0"/>
          </a:p>
        </p:txBody>
      </p:sp>
      <p:sp>
        <p:nvSpPr>
          <p:cNvPr id="26" name="Text 19"/>
          <p:cNvSpPr txBox="1"/>
          <p:nvPr/>
        </p:nvSpPr>
        <p:spPr>
          <a:xfrm>
            <a:off x="822960" y="7818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handled.ai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11978640" y="7818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12064"/>
            <a:ext cx="1170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04672"/>
            <a:ext cx="11704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apps, one agent</a:t>
            </a:r>
            <a:endParaRPr lang="en-US" sz="2900" dirty="0"/>
          </a:p>
        </p:txBody>
      </p:sp>
      <p:pic>
        <p:nvPicPr>
          <p:cNvPr id="4" name="Image 0" descr="assets/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4832" y="493776"/>
            <a:ext cx="347472" cy="3474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463040"/>
            <a:ext cx="1261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through a stage-gated workflow — each app independent, all pointed at a single n8n webhook.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103120"/>
            <a:ext cx="4084320" cy="416052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assets/shot-websit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377440"/>
            <a:ext cx="3535680" cy="162763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097280" y="2377440"/>
            <a:ext cx="3535680" cy="1627632"/>
          </a:xfrm>
          <a:prstGeom prst="rect">
            <a:avLst/>
          </a:prstGeom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1143000" y="4114800"/>
            <a:ext cx="344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website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4498848"/>
            <a:ext cx="344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14 · Netlify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4828032"/>
            <a:ext cx="344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Static-first public site telling the Handled story, with one lead-capture endpoint.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718560" y="239572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7F6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3718560" y="2400300"/>
            <a:ext cx="86868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3A1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273040" y="2103120"/>
            <a:ext cx="4084320" cy="416052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5593080" y="242316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assets/icons/gauge_115A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8645" y="2598725"/>
            <a:ext cx="380390" cy="38039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168640" y="256032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7F6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 txBox="1"/>
          <p:nvPr/>
        </p:nvSpPr>
        <p:spPr>
          <a:xfrm>
            <a:off x="8168640" y="2564892"/>
            <a:ext cx="86868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3A1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5593080" y="3337560"/>
            <a:ext cx="344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experience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593080" y="3730752"/>
            <a:ext cx="344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· n8n · Supabase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5593080" y="4114800"/>
            <a:ext cx="34442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dashboard over a 17-table Supabase schema, plus the multi-agent n8n backend. Inbox, bookings, conversion &amp; revenue.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9723120" y="2103120"/>
            <a:ext cx="4084320" cy="416052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10043160" y="242316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3" descr="assets/icons/message-square_115AC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8725" y="2598725"/>
            <a:ext cx="380390" cy="38039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12618720" y="256032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 txBox="1"/>
          <p:nvPr/>
        </p:nvSpPr>
        <p:spPr>
          <a:xfrm>
            <a:off x="12618720" y="2564892"/>
            <a:ext cx="86868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950" dirty="0"/>
          </a:p>
        </p:txBody>
      </p:sp>
      <p:sp>
        <p:nvSpPr>
          <p:cNvPr id="27" name="Text 21"/>
          <p:cNvSpPr txBox="1"/>
          <p:nvPr/>
        </p:nvSpPr>
        <p:spPr>
          <a:xfrm>
            <a:off x="10043160" y="3337560"/>
            <a:ext cx="344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harness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10043160" y="3730752"/>
            <a:ext cx="344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SMS-style chat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10043160" y="4114800"/>
            <a:ext cx="34442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Impersonate ~30 seeded Acme customers, text as them, and watch the AI reply — the way the flow gets exercised.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6492240"/>
            <a:ext cx="1261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front door:  </a:t>
            </a: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website, the dashboard, and the test harness all POST to the same </a:t>
            </a:r>
            <a:r>
              <a:rPr lang="en-US" sz="1300" dirty="0">
                <a:solidFill>
                  <a:srgbClr val="115A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/webhook/handled/message</a:t>
            </a: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822960" y="7818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handled.ai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11978640" y="7818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12064"/>
            <a:ext cx="1170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04672"/>
            <a:ext cx="11704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 Implementation</a:t>
            </a:r>
            <a:endParaRPr lang="en-US" sz="2900" dirty="0"/>
          </a:p>
        </p:txBody>
      </p:sp>
      <p:pic>
        <p:nvPicPr>
          <p:cNvPr id="4" name="Image 0" descr="assets/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4832" y="493776"/>
            <a:ext cx="347472" cy="3474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463040"/>
            <a:ext cx="1261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nodes, one entry point: </a:t>
            </a:r>
            <a:r>
              <a:rPr lang="en-US" sz="1400" dirty="0">
                <a:solidFill>
                  <a:srgbClr val="115A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/webhook/handled/message</a:t>
            </a:r>
            <a:r>
              <a:rPr lang="en-US" sz="14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always a fixed JSON reply, never a 500.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22960" y="2286000"/>
            <a:ext cx="1828800" cy="1600200"/>
          </a:xfrm>
          <a:prstGeom prst="roundRect">
            <a:avLst>
              <a:gd name="adj" fmla="val 5714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463040" y="248716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82A5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assets/icons/message-squar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4714" y="2618842"/>
            <a:ext cx="285293" cy="28529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0" y="31089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Inbound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3438144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2688336" y="3086100"/>
            <a:ext cx="329184" cy="0"/>
          </a:xfrm>
          <a:prstGeom prst="line">
            <a:avLst/>
          </a:prstGeom>
          <a:noFill/>
          <a:ln w="19050">
            <a:solidFill>
              <a:srgbClr val="8F91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3054096" y="2286000"/>
            <a:ext cx="1828800" cy="1600200"/>
          </a:xfrm>
          <a:prstGeom prst="roundRect">
            <a:avLst>
              <a:gd name="adj" fmla="val 5714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3694176" y="248716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82A5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assets/icons/databas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5850" y="2618842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145536" y="31089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3145536" y="3438144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· context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4919472" y="3086100"/>
            <a:ext cx="329184" cy="0"/>
          </a:xfrm>
          <a:prstGeom prst="line">
            <a:avLst/>
          </a:prstGeom>
          <a:noFill/>
          <a:ln w="19050">
            <a:solidFill>
              <a:srgbClr val="8F91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5285232" y="2286000"/>
            <a:ext cx="1828800" cy="1600200"/>
          </a:xfrm>
          <a:prstGeom prst="roundRect">
            <a:avLst>
              <a:gd name="adj" fmla="val 5714"/>
            </a:avLst>
          </a:prstGeom>
          <a:solidFill>
            <a:srgbClr val="E7EFFC"/>
          </a:solidFill>
          <a:ln w="12700">
            <a:solidFill>
              <a:srgbClr val="B6C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5925312" y="248716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assets/icons/shield-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6986" y="2618842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376672" y="31089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376672" y="3438144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· t0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7150608" y="3086100"/>
            <a:ext cx="329184" cy="0"/>
          </a:xfrm>
          <a:prstGeom prst="line">
            <a:avLst/>
          </a:prstGeom>
          <a:noFill/>
          <a:ln w="19050">
            <a:solidFill>
              <a:srgbClr val="8F91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7516368" y="2286000"/>
            <a:ext cx="1828800" cy="1600200"/>
          </a:xfrm>
          <a:prstGeom prst="roundRect">
            <a:avLst>
              <a:gd name="adj" fmla="val 5714"/>
            </a:avLst>
          </a:prstGeom>
          <a:solidFill>
            <a:srgbClr val="E7EFFC"/>
          </a:solidFill>
          <a:ln w="12700">
            <a:solidFill>
              <a:srgbClr val="B6C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8156448" y="248716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assets/icons/split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8122" y="2618842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607808" y="31089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7607808" y="3438144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· t0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9381744" y="3086100"/>
            <a:ext cx="329184" cy="0"/>
          </a:xfrm>
          <a:prstGeom prst="line">
            <a:avLst/>
          </a:prstGeom>
          <a:noFill/>
          <a:ln w="19050">
            <a:solidFill>
              <a:srgbClr val="8F91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9747504" y="2286000"/>
            <a:ext cx="1828800" cy="1600200"/>
          </a:xfrm>
          <a:prstGeom prst="roundRect">
            <a:avLst>
              <a:gd name="adj" fmla="val 5714"/>
            </a:avLst>
          </a:prstGeom>
          <a:solidFill>
            <a:srgbClr val="E7EFFC"/>
          </a:solidFill>
          <a:ln w="12700">
            <a:solidFill>
              <a:srgbClr val="B6C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>
            <a:off x="10387584" y="248716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5" descr="assets/icons/bot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19258" y="2618842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838944" y="31089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Specialist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9838944" y="3438144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· t0.3</a:t>
            </a:r>
            <a:endParaRPr lang="en-US" sz="1050" dirty="0"/>
          </a:p>
        </p:txBody>
      </p:sp>
      <p:sp>
        <p:nvSpPr>
          <p:cNvPr id="35" name="Shape 27"/>
          <p:cNvSpPr/>
          <p:nvPr/>
        </p:nvSpPr>
        <p:spPr>
          <a:xfrm>
            <a:off x="11612880" y="3086100"/>
            <a:ext cx="329184" cy="0"/>
          </a:xfrm>
          <a:prstGeom prst="line">
            <a:avLst/>
          </a:prstGeom>
          <a:noFill/>
          <a:ln w="19050">
            <a:solidFill>
              <a:srgbClr val="8F91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28"/>
          <p:cNvSpPr/>
          <p:nvPr/>
        </p:nvSpPr>
        <p:spPr>
          <a:xfrm>
            <a:off x="11978640" y="2286000"/>
            <a:ext cx="1828800" cy="1600200"/>
          </a:xfrm>
          <a:prstGeom prst="roundRect">
            <a:avLst>
              <a:gd name="adj" fmla="val 5714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29"/>
          <p:cNvSpPr/>
          <p:nvPr/>
        </p:nvSpPr>
        <p:spPr>
          <a:xfrm>
            <a:off x="12618720" y="248716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82A5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8" name="Image 6" descr="assets/icons/send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750394" y="2618842"/>
            <a:ext cx="285293" cy="285293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12070080" y="31089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Reply</a:t>
            </a:r>
            <a:endParaRPr lang="en-US" sz="1400" dirty="0"/>
          </a:p>
        </p:txBody>
      </p:sp>
      <p:sp>
        <p:nvSpPr>
          <p:cNvPr id="40" name="Text 31"/>
          <p:cNvSpPr txBox="1"/>
          <p:nvPr/>
        </p:nvSpPr>
        <p:spPr>
          <a:xfrm>
            <a:off x="12070080" y="3438144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 + eval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9290304" y="4160520"/>
            <a:ext cx="27432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115A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3"/>
          <p:cNvSpPr/>
          <p:nvPr/>
        </p:nvSpPr>
        <p:spPr>
          <a:xfrm>
            <a:off x="9473184" y="43616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3" name="Image 7" descr="assets/icons/wrench_115AC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82912" y="4471416"/>
            <a:ext cx="237744" cy="237744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0067544" y="4288536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org-scoped tools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least-privilege · no raw SQL</a:t>
            </a:r>
            <a:endParaRPr lang="en-US" sz="1050" dirty="0"/>
          </a:p>
        </p:txBody>
      </p:sp>
      <p:sp>
        <p:nvSpPr>
          <p:cNvPr id="45" name="Shape 35"/>
          <p:cNvSpPr/>
          <p:nvPr/>
        </p:nvSpPr>
        <p:spPr>
          <a:xfrm>
            <a:off x="10661904" y="3886200"/>
            <a:ext cx="0" cy="274320"/>
          </a:xfrm>
          <a:prstGeom prst="line">
            <a:avLst/>
          </a:prstGeom>
          <a:noFill/>
          <a:ln w="19050">
            <a:solidFill>
              <a:srgbClr val="115A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36"/>
          <p:cNvSpPr/>
          <p:nvPr/>
        </p:nvSpPr>
        <p:spPr>
          <a:xfrm>
            <a:off x="822960" y="5257800"/>
            <a:ext cx="12984480" cy="777240"/>
          </a:xfrm>
          <a:prstGeom prst="roundRect">
            <a:avLst>
              <a:gd name="adj" fmla="val 11765"/>
            </a:avLst>
          </a:prstGeom>
          <a:solidFill>
            <a:srgbClr val="FAEBEB"/>
          </a:solidFill>
          <a:ln w="12700">
            <a:solidFill>
              <a:srgbClr val="F1C0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37"/>
          <p:cNvSpPr/>
          <p:nvPr/>
        </p:nvSpPr>
        <p:spPr>
          <a:xfrm>
            <a:off x="1097280" y="54132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D1343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8" name="Image 8" descr="assets/icons/shield-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008" y="5522976"/>
            <a:ext cx="237744" cy="237744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1737360" y="5367528"/>
            <a:ext cx="1179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 handler  </a:t>
            </a: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any LLM, agent, or DB error returns a safe 200 (owner notified, emergency-aware). The only non-200s are sender-fixable: 400 · 401 · 404.</a:t>
            </a:r>
            <a:endParaRPr lang="en-US" sz="1300" dirty="0"/>
          </a:p>
        </p:txBody>
      </p:sp>
      <p:sp>
        <p:nvSpPr>
          <p:cNvPr id="50" name="Shape 39"/>
          <p:cNvSpPr/>
          <p:nvPr/>
        </p:nvSpPr>
        <p:spPr>
          <a:xfrm>
            <a:off x="822960" y="6309360"/>
            <a:ext cx="4114800" cy="685800"/>
          </a:xfrm>
          <a:prstGeom prst="roundRect">
            <a:avLst>
              <a:gd name="adj" fmla="val 13333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0"/>
          <p:cNvSpPr/>
          <p:nvPr/>
        </p:nvSpPr>
        <p:spPr>
          <a:xfrm>
            <a:off x="1024128" y="64648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2" name="Image 9" descr="assets/icons/route_FFFF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6300" y="6556980"/>
            <a:ext cx="199705" cy="199705"/>
          </a:xfrm>
          <a:prstGeom prst="rect">
            <a:avLst/>
          </a:prstGeom>
        </p:spPr>
      </p:pic>
      <p:sp>
        <p:nvSpPr>
          <p:cNvPr id="53" name="Text 41"/>
          <p:cNvSpPr txBox="1"/>
          <p:nvPr/>
        </p:nvSpPr>
        <p:spPr>
          <a:xfrm>
            <a:off x="1554480" y="640080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front door</a:t>
            </a:r>
            <a:endParaRPr lang="en-US" sz="1250" dirty="0"/>
          </a:p>
        </p:txBody>
      </p:sp>
      <p:sp>
        <p:nvSpPr>
          <p:cNvPr id="54" name="Shape 42"/>
          <p:cNvSpPr/>
          <p:nvPr/>
        </p:nvSpPr>
        <p:spPr>
          <a:xfrm>
            <a:off x="5257800" y="6309360"/>
            <a:ext cx="4114800" cy="685800"/>
          </a:xfrm>
          <a:prstGeom prst="roundRect">
            <a:avLst>
              <a:gd name="adj" fmla="val 13333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43"/>
          <p:cNvSpPr/>
          <p:nvPr/>
        </p:nvSpPr>
        <p:spPr>
          <a:xfrm>
            <a:off x="5458968" y="64648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6" name="Image 10" descr="assets/icons/gauge_FFFFF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51140" y="6556980"/>
            <a:ext cx="199705" cy="199705"/>
          </a:xfrm>
          <a:prstGeom prst="rect">
            <a:avLst/>
          </a:prstGeom>
        </p:spPr>
      </p:pic>
      <p:sp>
        <p:nvSpPr>
          <p:cNvPr id="57" name="Text 44"/>
          <p:cNvSpPr txBox="1"/>
          <p:nvPr/>
        </p:nvSpPr>
        <p:spPr>
          <a:xfrm>
            <a:off x="5989320" y="640080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work first, expensive last</a:t>
            </a:r>
            <a:endParaRPr lang="en-US" sz="1250" dirty="0"/>
          </a:p>
        </p:txBody>
      </p:sp>
      <p:sp>
        <p:nvSpPr>
          <p:cNvPr id="58" name="Shape 45"/>
          <p:cNvSpPr/>
          <p:nvPr/>
        </p:nvSpPr>
        <p:spPr>
          <a:xfrm>
            <a:off x="9692640" y="6309360"/>
            <a:ext cx="4114800" cy="685800"/>
          </a:xfrm>
          <a:prstGeom prst="roundRect">
            <a:avLst>
              <a:gd name="adj" fmla="val 13333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46"/>
          <p:cNvSpPr/>
          <p:nvPr/>
        </p:nvSpPr>
        <p:spPr>
          <a:xfrm>
            <a:off x="9893808" y="64648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0" name="Image 11" descr="assets/icons/badge-check_FFFFFF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85980" y="6556980"/>
            <a:ext cx="199705" cy="199705"/>
          </a:xfrm>
          <a:prstGeom prst="rect">
            <a:avLst/>
          </a:prstGeom>
        </p:spPr>
      </p:pic>
      <p:sp>
        <p:nvSpPr>
          <p:cNvPr id="61" name="Text 47"/>
          <p:cNvSpPr txBox="1"/>
          <p:nvPr/>
        </p:nvSpPr>
        <p:spPr>
          <a:xfrm>
            <a:off x="10424160" y="640080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hand the customer a failure</a:t>
            </a:r>
            <a:endParaRPr lang="en-US" sz="1250" dirty="0"/>
          </a:p>
        </p:txBody>
      </p:sp>
      <p:sp>
        <p:nvSpPr>
          <p:cNvPr id="62" name="Text 48"/>
          <p:cNvSpPr txBox="1"/>
          <p:nvPr/>
        </p:nvSpPr>
        <p:spPr>
          <a:xfrm>
            <a:off x="822960" y="7818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handled.ai</a:t>
            </a:r>
            <a:endParaRPr lang="en-US" sz="1000" dirty="0"/>
          </a:p>
        </p:txBody>
      </p:sp>
      <p:sp>
        <p:nvSpPr>
          <p:cNvPr id="63" name="Text 49"/>
          <p:cNvSpPr txBox="1"/>
          <p:nvPr/>
        </p:nvSpPr>
        <p:spPr>
          <a:xfrm>
            <a:off x="11978640" y="7818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49951-5AD9-71EB-30F0-7A38E8FC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12064"/>
            <a:ext cx="1188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15ACB"/>
                </a:solidFill>
                <a:latin typeface="Arial"/>
              </a:rPr>
              <a:t>ARCHITECTURE · N8N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04672"/>
            <a:ext cx="11887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70A0E"/>
                </a:solidFill>
                <a:latin typeface="Arial"/>
              </a:rPr>
              <a:t>Intake &amp; screening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243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A4C4F"/>
                </a:solidFill>
                <a:latin typeface="Arial"/>
              </a:rPr>
              <a:t>Entry webhook, validation &amp; auth, context loader, context gate, and the spam / injection guard.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4832" y="493776"/>
            <a:ext cx="347472" cy="347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7818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F9193"/>
                </a:solidFill>
                <a:latin typeface="Arial"/>
              </a:rPr>
              <a:t>handled.ai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0" y="78181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F9193"/>
                </a:solidFill>
                <a:latin typeface="Arial"/>
              </a:rPr>
              <a:t>08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77724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972836" y="1965960"/>
            <a:ext cx="421355" cy="274320"/>
          </a:xfrm>
          <a:prstGeom prst="roundRect">
            <a:avLst>
              <a:gd name="adj" fmla="val 50000"/>
            </a:avLst>
          </a:prstGeom>
          <a:solidFill>
            <a:srgbClr val="F0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4A4C4F"/>
                </a:solidFill>
                <a:latin typeface="Arial"/>
              </a:rPr>
              <a:t>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984248"/>
            <a:ext cx="68115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70A0E"/>
                </a:solidFill>
                <a:latin typeface="Arial"/>
              </a:rPr>
              <a:t>Webhook + validate &amp; 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404872"/>
            <a:ext cx="7370064" cy="3627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4A4C4F"/>
                </a:solidFill>
                <a:latin typeface="Arial"/>
              </a:rPr>
              <a:t>Receives one inbound text, then checks the shared secret and required fields. No AI · no tools.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840736"/>
            <a:ext cx="1922708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POST /webhook/handled/message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9988" y="2840736"/>
            <a:ext cx="1134587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X-Handled-Secret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1783080"/>
            <a:ext cx="4892040" cy="1097280"/>
          </a:xfrm>
          <a:prstGeom prst="roundRect">
            <a:avLst>
              <a:gd name="adj" fmla="val 8333"/>
            </a:avLst>
          </a:prstGeom>
          <a:solidFill>
            <a:srgbClr val="FAEBEB"/>
          </a:solidFill>
          <a:ln w="12700">
            <a:solidFill>
              <a:srgbClr val="F1C0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16568" y="1984248"/>
            <a:ext cx="448970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942528"/>
                </a:solidFill>
                <a:latin typeface="Arial"/>
              </a:rPr>
              <a:t>Respond 4xx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6568" y="2368296"/>
            <a:ext cx="4489703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4A4C4F"/>
                </a:solidFill>
                <a:latin typeface="Arial"/>
              </a:rPr>
              <a:t>401 unauthorized · 400 validation — wrong secret or bad fields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2240280"/>
            <a:ext cx="3657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8F9193"/>
                </a:solidFill>
                <a:latin typeface="Arial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898648"/>
            <a:ext cx="3657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8F9193"/>
                </a:solidFill>
                <a:latin typeface="Arial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154680"/>
            <a:ext cx="7772400" cy="1508760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12700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881591" y="3337560"/>
            <a:ext cx="1512600" cy="274320"/>
          </a:xfrm>
          <a:prstGeom prst="roundRect">
            <a:avLst>
              <a:gd name="adj" fmla="val 50000"/>
            </a:avLst>
          </a:prstGeom>
          <a:solidFill>
            <a:srgbClr val="F0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4A4C4F"/>
                </a:solidFill>
                <a:latin typeface="Arial"/>
              </a:rPr>
              <a:t>Code · Supabase reads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355848"/>
            <a:ext cx="572030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70A0E"/>
                </a:solidFill>
                <a:latin typeface="Arial"/>
              </a:rPr>
              <a:t>Context loader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3776472"/>
            <a:ext cx="7370064" cy="3627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4A4C4F"/>
                </a:solidFill>
                <a:latin typeface="Arial"/>
              </a:rPr>
              <a:t>Builds the context bundle every later step reuses; resolves the org and the customer. No AI.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4212336"/>
            <a:ext cx="952713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organizations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49993" y="4212336"/>
            <a:ext cx="1195212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business_profiles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18357" y="4212336"/>
            <a:ext cx="649589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services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41099" y="4212336"/>
            <a:ext cx="1073962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service_pricing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88214" y="4212336"/>
            <a:ext cx="952713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service_areas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4079" y="4212336"/>
            <a:ext cx="1013338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business_hours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00569" y="4212336"/>
            <a:ext cx="831463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technicians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4541520"/>
            <a:ext cx="1073962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emergency_rules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1242" y="4541520"/>
            <a:ext cx="952713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end_customers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97108" y="4541520"/>
            <a:ext cx="952713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conversations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22973" y="4541520"/>
            <a:ext cx="649589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messages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45715" y="4541520"/>
            <a:ext cx="892088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appointments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700016"/>
            <a:ext cx="3657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8F9193"/>
                </a:solidFill>
                <a:latin typeface="Arial"/>
              </a:rPr>
              <a:t>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956048"/>
            <a:ext cx="7772400" cy="105156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7844454" y="5138928"/>
            <a:ext cx="549737" cy="274320"/>
          </a:xfrm>
          <a:prstGeom prst="roundRect">
            <a:avLst>
              <a:gd name="adj" fmla="val 50000"/>
            </a:avLst>
          </a:prstGeom>
          <a:solidFill>
            <a:srgbClr val="F0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4A4C4F"/>
                </a:solidFill>
                <a:latin typeface="Arial"/>
              </a:rPr>
              <a:t>Switch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" y="5157216"/>
            <a:ext cx="668316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70A0E"/>
                </a:solidFill>
                <a:latin typeface="Arial"/>
              </a:rPr>
              <a:t>Context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5577840"/>
            <a:ext cx="7370064" cy="195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4A4C4F"/>
                </a:solidFill>
                <a:latin typeface="Arial"/>
              </a:rPr>
              <a:t>Routes on the loader's control signal. No AI.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4128" y="5846063"/>
            <a:ext cx="407090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ok 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04370" y="5846063"/>
            <a:ext cx="710214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not_found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287737" y="5846063"/>
            <a:ext cx="710214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opted_out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71103" y="5846063"/>
            <a:ext cx="710214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duplicate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15400" y="4956048"/>
            <a:ext cx="4892040" cy="1051560"/>
          </a:xfrm>
          <a:prstGeom prst="roundRect">
            <a:avLst>
              <a:gd name="adj" fmla="val 8695"/>
            </a:avLst>
          </a:prstGeom>
          <a:solidFill>
            <a:srgbClr val="FFF9F0"/>
          </a:solidFill>
          <a:ln w="12700">
            <a:solidFill>
              <a:srgbClr val="FFE3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116568" y="5157216"/>
            <a:ext cx="448970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36800"/>
                </a:solidFill>
                <a:latin typeface="Arial"/>
              </a:rPr>
              <a:t>Early exits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16568" y="5541264"/>
            <a:ext cx="4489703" cy="3931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4A4C4F"/>
                </a:solidFill>
                <a:latin typeface="Arial"/>
              </a:rPr>
              <a:t>404 unknown business · opt-out (200) · idempotent replay (stored response)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60" y="5477256"/>
            <a:ext cx="3657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8F9193"/>
                </a:solidFill>
                <a:latin typeface="Arial"/>
              </a:rPr>
              <a:t>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26280" y="6025896"/>
            <a:ext cx="3657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8F9193"/>
                </a:solidFill>
                <a:latin typeface="Arial"/>
              </a:rPr>
              <a:t>↓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2960" y="6281928"/>
            <a:ext cx="7772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7138355" y="6464808"/>
            <a:ext cx="1255836" cy="274320"/>
          </a:xfrm>
          <a:prstGeom prst="roundRect">
            <a:avLst>
              <a:gd name="adj" fmla="val 50000"/>
            </a:avLst>
          </a:prstGeom>
          <a:solidFill>
            <a:srgbClr val="E7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115ACB"/>
                </a:solidFill>
                <a:latin typeface="Arial"/>
              </a:rPr>
              <a:t>AI · Claude Haiku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4128" y="6483096"/>
            <a:ext cx="597706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70A0E"/>
                </a:solidFill>
                <a:latin typeface="Arial"/>
              </a:rPr>
              <a:t>Guard — spam + injection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4128" y="6903720"/>
            <a:ext cx="7370064" cy="195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4A4C4F"/>
                </a:solidFill>
                <a:latin typeface="Arial"/>
              </a:rPr>
              <a:t>Classifies each message on two axes; its output is never sent to the customer.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24128" y="7171944"/>
            <a:ext cx="952713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temperature 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049993" y="7171944"/>
            <a:ext cx="770839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256 tokens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893984" y="7171944"/>
            <a:ext cx="1195212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no Supabase tools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915400" y="6281928"/>
            <a:ext cx="4892040" cy="1143000"/>
          </a:xfrm>
          <a:prstGeom prst="roundRect">
            <a:avLst>
              <a:gd name="adj" fmla="val 8000"/>
            </a:avLst>
          </a:prstGeom>
          <a:solidFill>
            <a:srgbClr val="FAEBEB"/>
          </a:solidFill>
          <a:ln w="12700">
            <a:solidFill>
              <a:srgbClr val="F1C0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116568" y="6483096"/>
            <a:ext cx="448970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942528"/>
                </a:solidFill>
                <a:latin typeface="Arial"/>
              </a:rPr>
              <a:t>Blocked (200)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16568" y="6867144"/>
            <a:ext cx="4489703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4A4C4F"/>
                </a:solidFill>
                <a:latin typeface="Arial"/>
              </a:rPr>
              <a:t>spam → persisted, not billed · injection → safe refusal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95360" y="6830568"/>
            <a:ext cx="3657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8F9193"/>
                </a:solidFill>
                <a:latin typeface="Arial"/>
              </a:rPr>
              <a:t>→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22960" y="7543800"/>
            <a:ext cx="999073" cy="274320"/>
          </a:xfrm>
          <a:prstGeom prst="roundRect">
            <a:avLst>
              <a:gd name="adj" fmla="val 50000"/>
            </a:avLst>
          </a:prstGeom>
          <a:solidFill>
            <a:srgbClr val="F0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4A4C4F"/>
                </a:solidFill>
                <a:latin typeface="Arial"/>
              </a:rPr>
              <a:t>Code / switch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23201" y="7543800"/>
            <a:ext cx="1255836" cy="274320"/>
          </a:xfrm>
          <a:prstGeom prst="roundRect">
            <a:avLst>
              <a:gd name="adj" fmla="val 50000"/>
            </a:avLst>
          </a:prstGeom>
          <a:solidFill>
            <a:srgbClr val="E7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115ACB"/>
                </a:solidFill>
                <a:latin typeface="Arial"/>
              </a:rPr>
              <a:t>Claude Haiku (AI)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480206" y="7543800"/>
            <a:ext cx="1127455" cy="274320"/>
          </a:xfrm>
          <a:prstGeom prst="roundRect">
            <a:avLst>
              <a:gd name="adj" fmla="val 50000"/>
            </a:avLst>
          </a:prstGeom>
          <a:solidFill>
            <a:srgbClr val="FA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942528"/>
                </a:solidFill>
                <a:latin typeface="Arial"/>
              </a:rPr>
              <a:t>Blocked / error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808829" y="7543800"/>
            <a:ext cx="806500" cy="274320"/>
          </a:xfrm>
          <a:prstGeom prst="roundRect">
            <a:avLst>
              <a:gd name="adj" fmla="val 50000"/>
            </a:avLst>
          </a:prstGeom>
          <a:solidFill>
            <a:srgbClr val="FF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B36800"/>
                </a:solidFill>
                <a:latin typeface="Arial"/>
              </a:rPr>
              <a:t>Early exit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816498" y="7543800"/>
            <a:ext cx="1255836" cy="274320"/>
          </a:xfrm>
          <a:prstGeom prst="roundRect">
            <a:avLst>
              <a:gd name="adj" fmla="val 50000"/>
            </a:avLst>
          </a:prstGeom>
          <a:solidFill>
            <a:srgbClr val="115A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legit → Diagram 2</a:t>
            </a:r>
          </a:p>
        </p:txBody>
      </p:sp>
    </p:spTree>
    <p:extLst>
      <p:ext uri="{BB962C8B-B14F-4D97-AF65-F5344CB8AC3E}">
        <p14:creationId xmlns:p14="http://schemas.microsoft.com/office/powerpoint/2010/main" val="3130291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E26790-9AEB-6A23-6401-7AA4F182E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12064"/>
            <a:ext cx="1188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15ACB"/>
                </a:solidFill>
                <a:latin typeface="Arial"/>
              </a:rPr>
              <a:t>ARCHITECTURE · N8N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04672"/>
            <a:ext cx="11887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70A0E"/>
                </a:solidFill>
                <a:latin typeface="Arial"/>
              </a:rPr>
              <a:t>Routing &amp; specialists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243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A4C4F"/>
                </a:solidFill>
                <a:latin typeface="Arial"/>
              </a:rPr>
              <a:t>The intent / language router, then six specialist agents on one shared Claude Sonnet node (1 of 2).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4832" y="493776"/>
            <a:ext cx="347472" cy="347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7818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F9193"/>
                </a:solidFill>
                <a:latin typeface="Arial"/>
              </a:rPr>
              <a:t>handled.ai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0" y="78181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F9193"/>
                </a:solidFill>
                <a:latin typeface="Arial"/>
              </a:rPr>
              <a:t>09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37360"/>
            <a:ext cx="12984480" cy="96012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12700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2350435" y="1920240"/>
            <a:ext cx="1255836" cy="274320"/>
          </a:xfrm>
          <a:prstGeom prst="roundRect">
            <a:avLst>
              <a:gd name="adj" fmla="val 50000"/>
            </a:avLst>
          </a:prstGeom>
          <a:solidFill>
            <a:srgbClr val="E7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115ACB"/>
                </a:solidFill>
                <a:latin typeface="Arial"/>
              </a:rPr>
              <a:t>AI · Claude Haiku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938528"/>
            <a:ext cx="11189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70A0E"/>
                </a:solidFill>
                <a:latin typeface="Arial"/>
              </a:rPr>
              <a:t>Router — intent + 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59152"/>
            <a:ext cx="1258214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4C4F"/>
                </a:solidFill>
                <a:latin typeface="Arial"/>
              </a:rPr>
              <a:t>Picks exactly one intent, detects language (en / es) and multi-intent; its output is never sent to the customer. Biases toward emergency when unsure.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779776"/>
            <a:ext cx="952713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temperature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9993" y="2779776"/>
            <a:ext cx="770839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256 tokens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3984" y="2779776"/>
            <a:ext cx="407090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book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4227" y="2779776"/>
            <a:ext cx="770839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reschedule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18218" y="2779776"/>
            <a:ext cx="528340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cancel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19710" y="2779776"/>
            <a:ext cx="710214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emergency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03077" y="2779776"/>
            <a:ext cx="588965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pricing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5194" y="2779776"/>
            <a:ext cx="831463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out_of_area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69810" y="2779776"/>
            <a:ext cx="346466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faq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2724912"/>
            <a:ext cx="3657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8F9193"/>
                </a:solidFill>
                <a:latin typeface="Arial"/>
              </a:rP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2999232"/>
            <a:ext cx="12984480" cy="676656"/>
          </a:xfrm>
          <a:prstGeom prst="roundRect">
            <a:avLst>
              <a:gd name="adj" fmla="val 13513"/>
            </a:avLst>
          </a:prstGeom>
          <a:solidFill>
            <a:srgbClr val="F7F0FF"/>
          </a:solidFill>
          <a:ln w="12700">
            <a:solidFill>
              <a:srgbClr val="F2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2258812" y="3145536"/>
            <a:ext cx="1320027" cy="274320"/>
          </a:xfrm>
          <a:prstGeom prst="roundRect">
            <a:avLst>
              <a:gd name="adj" fmla="val 50000"/>
            </a:avLst>
          </a:prstGeom>
          <a:solidFill>
            <a:srgbClr val="F2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6600CC"/>
                </a:solidFill>
                <a:latin typeface="Arial"/>
              </a:rPr>
              <a:t>AI · Claude Sonnet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31272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600CC"/>
                </a:solidFill>
                <a:latin typeface="Arial"/>
              </a:rPr>
              <a:t>All six specialists share one Claude Sonnet model node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3419856"/>
            <a:ext cx="10972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4C4F"/>
                </a:solidFill>
                <a:latin typeface="Arial"/>
              </a:rPr>
              <a:t>temperature 0.3 · 1024 tokens · least-privilege tools · no raw SQL · routed to exactly one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730752"/>
            <a:ext cx="3657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8F9193"/>
                </a:solidFill>
                <a:latin typeface="Arial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005072"/>
            <a:ext cx="4084319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753398" y="4187952"/>
            <a:ext cx="952713" cy="274320"/>
          </a:xfrm>
          <a:prstGeom prst="roundRect">
            <a:avLst>
              <a:gd name="adj" fmla="val 50000"/>
            </a:avLst>
          </a:prstGeom>
          <a:solidFill>
            <a:srgbClr val="F2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6600CC"/>
                </a:solidFill>
                <a:latin typeface="Arial"/>
              </a:rPr>
              <a:t>Claude Sonnet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4206240"/>
            <a:ext cx="261954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0A0E"/>
                </a:solidFill>
                <a:latin typeface="Arial"/>
              </a:rPr>
              <a:t>New-Booking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4608576"/>
            <a:ext cx="892088" cy="256032"/>
          </a:xfrm>
          <a:prstGeom prst="roundRect">
            <a:avLst>
              <a:gd name="adj" fmla="val 50000"/>
            </a:avLst>
          </a:prstGeom>
          <a:solidFill>
            <a:srgbClr val="F0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intent: 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974336"/>
            <a:ext cx="3681983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4C4F"/>
                </a:solidFill>
                <a:latin typeface="Arial"/>
              </a:rPr>
              <a:t>Schedules a new service visit — readback, confirm, and a re-check of availability before any write.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5650992"/>
            <a:ext cx="1437711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check_service_offered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34991" y="5650992"/>
            <a:ext cx="1437711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validate_service_area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128" y="5971031"/>
            <a:ext cx="1255836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check_availability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53116" y="5971031"/>
            <a:ext cx="1195212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lookup_technician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4128" y="6291071"/>
            <a:ext cx="1316461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get_service_pricing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413741" y="6291071"/>
            <a:ext cx="1255836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create_appointment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42730" y="6291071"/>
            <a:ext cx="892088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add_waitlist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24128" y="6611111"/>
            <a:ext cx="952713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capture_notes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49993" y="6611111"/>
            <a:ext cx="892088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capture_lead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73040" y="4005072"/>
            <a:ext cx="4084319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8203478" y="4187952"/>
            <a:ext cx="952713" cy="274320"/>
          </a:xfrm>
          <a:prstGeom prst="roundRect">
            <a:avLst>
              <a:gd name="adj" fmla="val 50000"/>
            </a:avLst>
          </a:prstGeom>
          <a:solidFill>
            <a:srgbClr val="F2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6600CC"/>
                </a:solidFill>
                <a:latin typeface="Arial"/>
              </a:rPr>
              <a:t>Claude Sonnet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74208" y="4206240"/>
            <a:ext cx="261954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0A0E"/>
                </a:solidFill>
                <a:latin typeface="Arial"/>
              </a:rPr>
              <a:t>Reschedule-Cancel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74208" y="4608576"/>
            <a:ext cx="1801459" cy="256032"/>
          </a:xfrm>
          <a:prstGeom prst="roundRect">
            <a:avLst>
              <a:gd name="adj" fmla="val 50000"/>
            </a:avLst>
          </a:prstGeom>
          <a:solidFill>
            <a:srgbClr val="F0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intent: reschedule / cancel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74208" y="4974336"/>
            <a:ext cx="3681983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4C4F"/>
                </a:solidFill>
                <a:latin typeface="Arial"/>
              </a:rPr>
              <a:t>Moves or cancels an existing appointment.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74208" y="5650992"/>
            <a:ext cx="1255836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check_availability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03196" y="5650992"/>
            <a:ext cx="1255836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lookup_appointment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74208" y="5971031"/>
            <a:ext cx="1255836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update_appointment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03196" y="5971031"/>
            <a:ext cx="1255836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cancel_appointment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23120" y="4005072"/>
            <a:ext cx="4084319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12653558" y="4187952"/>
            <a:ext cx="952713" cy="274320"/>
          </a:xfrm>
          <a:prstGeom prst="roundRect">
            <a:avLst>
              <a:gd name="adj" fmla="val 50000"/>
            </a:avLst>
          </a:prstGeom>
          <a:solidFill>
            <a:srgbClr val="F2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6600CC"/>
                </a:solidFill>
                <a:latin typeface="Arial"/>
              </a:rPr>
              <a:t>Claude Sonnet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24288" y="4206240"/>
            <a:ext cx="261954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0A0E"/>
                </a:solidFill>
                <a:latin typeface="Arial"/>
              </a:rPr>
              <a:t>Emergency-Triage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24288" y="4608576"/>
            <a:ext cx="1195212" cy="256032"/>
          </a:xfrm>
          <a:prstGeom prst="roundRect">
            <a:avLst>
              <a:gd name="adj" fmla="val 50000"/>
            </a:avLst>
          </a:prstGeom>
          <a:solidFill>
            <a:srgbClr val="F0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intent: emergency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4288" y="4974336"/>
            <a:ext cx="3681983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4C4F"/>
                </a:solidFill>
                <a:latin typeface="Arial"/>
              </a:rPr>
              <a:t>Handles life-safety situations — advises, logs, and escalates for dispatch.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24288" y="5650992"/>
            <a:ext cx="1377086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match_emergency_rule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374526" y="5650992"/>
            <a:ext cx="952713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advise_safety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2400391" y="5650992"/>
            <a:ext cx="1195212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escalate_to_human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24288" y="5971031"/>
            <a:ext cx="952713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log_emergency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2960" y="7269480"/>
            <a:ext cx="2090318" cy="274320"/>
          </a:xfrm>
          <a:prstGeom prst="roundRect">
            <a:avLst>
              <a:gd name="adj" fmla="val 50000"/>
            </a:avLst>
          </a:prstGeom>
          <a:solidFill>
            <a:srgbClr val="E7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115ACB"/>
                </a:solidFill>
                <a:latin typeface="Arial"/>
              </a:rPr>
              <a:t>Claude Haiku — classifier (AI)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114446" y="7269480"/>
            <a:ext cx="2154509" cy="274320"/>
          </a:xfrm>
          <a:prstGeom prst="roundRect">
            <a:avLst>
              <a:gd name="adj" fmla="val 50000"/>
            </a:avLst>
          </a:prstGeom>
          <a:solidFill>
            <a:srgbClr val="F2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6600CC"/>
                </a:solidFill>
                <a:latin typeface="Arial"/>
              </a:rPr>
              <a:t>Claude Sonnet — specialist (AI)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70123" y="7269480"/>
            <a:ext cx="549737" cy="274320"/>
          </a:xfrm>
          <a:prstGeom prst="roundRect">
            <a:avLst>
              <a:gd name="adj" fmla="val 50000"/>
            </a:avLst>
          </a:prstGeom>
          <a:solidFill>
            <a:srgbClr val="F0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4A4C4F"/>
                </a:solidFill>
                <a:latin typeface="Arial"/>
              </a:rPr>
              <a:t>intent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21028" y="7269480"/>
            <a:ext cx="421355" cy="274320"/>
          </a:xfrm>
          <a:prstGeom prst="roundRect">
            <a:avLst>
              <a:gd name="adj" fmla="val 50000"/>
            </a:avLst>
          </a:prstGeom>
          <a:solidFill>
            <a:srgbClr val="F0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4A4C4F"/>
                </a:solidFill>
                <a:latin typeface="Arial"/>
              </a:rPr>
              <a:t>tool</a:t>
            </a:r>
          </a:p>
        </p:txBody>
      </p:sp>
    </p:spTree>
    <p:extLst>
      <p:ext uri="{BB962C8B-B14F-4D97-AF65-F5344CB8AC3E}">
        <p14:creationId xmlns:p14="http://schemas.microsoft.com/office/powerpoint/2010/main" val="1590284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12064"/>
            <a:ext cx="1188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15ACB"/>
                </a:solidFill>
                <a:latin typeface="Arial"/>
              </a:rPr>
              <a:t>ARCHITECTURE · N8N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04672"/>
            <a:ext cx="11887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70A0E"/>
                </a:solidFill>
                <a:latin typeface="Arial"/>
              </a:rPr>
              <a:t>Routing &amp; specialists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243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A4C4F"/>
                </a:solidFill>
                <a:latin typeface="Arial"/>
              </a:rPr>
              <a:t>The remaining three specialists on the shared Claude Sonnet node — pricing, out-of-area, and the FAQ catch-all (2 of 2).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4832" y="493776"/>
            <a:ext cx="347472" cy="347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7818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F9193"/>
                </a:solidFill>
                <a:latin typeface="Arial"/>
              </a:rPr>
              <a:t>handled.ai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0" y="78181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F9193"/>
                </a:solidFill>
                <a:latin typeface="Arial"/>
              </a:rPr>
              <a:t>10 /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12984480" cy="676656"/>
          </a:xfrm>
          <a:prstGeom prst="roundRect">
            <a:avLst>
              <a:gd name="adj" fmla="val 13513"/>
            </a:avLst>
          </a:prstGeom>
          <a:solidFill>
            <a:srgbClr val="F7F0FF"/>
          </a:solidFill>
          <a:ln w="12700">
            <a:solidFill>
              <a:srgbClr val="F2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2258812" y="1929384"/>
            <a:ext cx="1320027" cy="274320"/>
          </a:xfrm>
          <a:prstGeom prst="roundRect">
            <a:avLst>
              <a:gd name="adj" fmla="val 50000"/>
            </a:avLst>
          </a:prstGeom>
          <a:solidFill>
            <a:srgbClr val="F2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6600CC"/>
                </a:solidFill>
                <a:latin typeface="Arial"/>
              </a:rPr>
              <a:t>AI · Claude Sonnet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1911095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600CC"/>
                </a:solidFill>
                <a:latin typeface="Arial"/>
              </a:rPr>
              <a:t>All six specialists share one Claude Sonnet model 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203704"/>
            <a:ext cx="10972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4C4F"/>
                </a:solidFill>
                <a:latin typeface="Arial"/>
              </a:rPr>
              <a:t>temperature 0.3 · 1024 tokens · least-privilege tools · no raw SQL · routed to exactly one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514600"/>
            <a:ext cx="3657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8F9193"/>
                </a:solidFill>
                <a:latin typeface="Arial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788920"/>
            <a:ext cx="4084319" cy="34290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753398" y="2971800"/>
            <a:ext cx="952713" cy="274320"/>
          </a:xfrm>
          <a:prstGeom prst="roundRect">
            <a:avLst>
              <a:gd name="adj" fmla="val 50000"/>
            </a:avLst>
          </a:prstGeom>
          <a:solidFill>
            <a:srgbClr val="F2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6600CC"/>
                </a:solidFill>
                <a:latin typeface="Arial"/>
              </a:rPr>
              <a:t>Claude Sonnet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990088"/>
            <a:ext cx="261954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0A0E"/>
                </a:solidFill>
                <a:latin typeface="Arial"/>
              </a:rPr>
              <a:t>Pricing-Quote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392424"/>
            <a:ext cx="1073962" cy="256032"/>
          </a:xfrm>
          <a:prstGeom prst="roundRect">
            <a:avLst>
              <a:gd name="adj" fmla="val 50000"/>
            </a:avLst>
          </a:prstGeom>
          <a:solidFill>
            <a:srgbClr val="F0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intent: pricing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758184"/>
            <a:ext cx="3681983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4C4F"/>
                </a:solidFill>
                <a:latin typeface="Arial"/>
              </a:rPr>
              <a:t>Answers cost / quote questions using configured price ranges only.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4434840"/>
            <a:ext cx="1437711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check_service_offered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34991" y="4434840"/>
            <a:ext cx="1316461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get_service_pricing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754879"/>
            <a:ext cx="892088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capture_lead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73040" y="2788920"/>
            <a:ext cx="4084319" cy="34290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203478" y="2971800"/>
            <a:ext cx="952713" cy="274320"/>
          </a:xfrm>
          <a:prstGeom prst="roundRect">
            <a:avLst>
              <a:gd name="adj" fmla="val 50000"/>
            </a:avLst>
          </a:prstGeom>
          <a:solidFill>
            <a:srgbClr val="F2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6600CC"/>
                </a:solidFill>
                <a:latin typeface="Arial"/>
              </a:rPr>
              <a:t>Claude Sonnet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74208" y="2990088"/>
            <a:ext cx="261954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0A0E"/>
                </a:solidFill>
                <a:latin typeface="Arial"/>
              </a:rPr>
              <a:t>Out-of-Area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74208" y="3392424"/>
            <a:ext cx="1316461" cy="256032"/>
          </a:xfrm>
          <a:prstGeom prst="roundRect">
            <a:avLst>
              <a:gd name="adj" fmla="val 50000"/>
            </a:avLst>
          </a:prstGeom>
          <a:solidFill>
            <a:srgbClr val="F0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intent: out_of_area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74208" y="3758184"/>
            <a:ext cx="3681983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4C4F"/>
                </a:solidFill>
                <a:latin typeface="Arial"/>
              </a:rPr>
              <a:t>Handles requests outside the service area and captures the lead.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74208" y="4434840"/>
            <a:ext cx="1437711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validate_service_area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85071" y="4434840"/>
            <a:ext cx="892088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capture_lead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23120" y="2788920"/>
            <a:ext cx="4084319" cy="34290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2653558" y="2971800"/>
            <a:ext cx="952713" cy="274320"/>
          </a:xfrm>
          <a:prstGeom prst="roundRect">
            <a:avLst>
              <a:gd name="adj" fmla="val 50000"/>
            </a:avLst>
          </a:prstGeom>
          <a:solidFill>
            <a:srgbClr val="F2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6600CC"/>
                </a:solidFill>
                <a:latin typeface="Arial"/>
              </a:rPr>
              <a:t>Claude Sonnet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4288" y="2990088"/>
            <a:ext cx="261954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0A0E"/>
                </a:solidFill>
                <a:latin typeface="Arial"/>
              </a:rPr>
              <a:t>General-FAQ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24288" y="3392424"/>
            <a:ext cx="1255836" cy="256032"/>
          </a:xfrm>
          <a:prstGeom prst="roundRect">
            <a:avLst>
              <a:gd name="adj" fmla="val 50000"/>
            </a:avLst>
          </a:prstGeom>
          <a:solidFill>
            <a:srgbClr val="F0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intent: faq / else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24288" y="3758184"/>
            <a:ext cx="3681983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4C4F"/>
                </a:solidFill>
                <a:latin typeface="Arial"/>
              </a:rPr>
              <a:t>Answers questions, status / ETA, confirmations, callbacks, opt-out, and human handoff.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24288" y="4434840"/>
            <a:ext cx="1255836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lookup_appointment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253276" y="4434840"/>
            <a:ext cx="1316461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get_service_pricing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24288" y="4754879"/>
            <a:ext cx="1255836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get_business_facts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253276" y="4754879"/>
            <a:ext cx="1013338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mark_confirmed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2339767" y="4754879"/>
            <a:ext cx="952713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capture_notes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24288" y="5074919"/>
            <a:ext cx="1195212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schedule_callback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192652" y="5074919"/>
            <a:ext cx="892088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capture_lead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2157892" y="5074919"/>
            <a:ext cx="1195212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escalate_to_human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24288" y="5394959"/>
            <a:ext cx="892088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0">
                <a:solidFill>
                  <a:srgbClr val="4A4C4F"/>
                </a:solidFill>
                <a:latin typeface="Arial"/>
              </a:rPr>
              <a:t>honor_optout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" y="6492240"/>
            <a:ext cx="2090318" cy="274320"/>
          </a:xfrm>
          <a:prstGeom prst="roundRect">
            <a:avLst>
              <a:gd name="adj" fmla="val 50000"/>
            </a:avLst>
          </a:prstGeom>
          <a:solidFill>
            <a:srgbClr val="E7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115ACB"/>
                </a:solidFill>
                <a:latin typeface="Arial"/>
              </a:rPr>
              <a:t>Claude Haiku — classifier (AI)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14446" y="6492240"/>
            <a:ext cx="2154509" cy="274320"/>
          </a:xfrm>
          <a:prstGeom prst="roundRect">
            <a:avLst>
              <a:gd name="adj" fmla="val 50000"/>
            </a:avLst>
          </a:prstGeom>
          <a:solidFill>
            <a:srgbClr val="F2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6600CC"/>
                </a:solidFill>
                <a:latin typeface="Arial"/>
              </a:rPr>
              <a:t>Claude Sonnet — specialist (AI)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70123" y="6492240"/>
            <a:ext cx="549737" cy="274320"/>
          </a:xfrm>
          <a:prstGeom prst="roundRect">
            <a:avLst>
              <a:gd name="adj" fmla="val 50000"/>
            </a:avLst>
          </a:prstGeom>
          <a:solidFill>
            <a:srgbClr val="F0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4A4C4F"/>
                </a:solidFill>
                <a:latin typeface="Arial"/>
              </a:rPr>
              <a:t>intent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028" y="6492240"/>
            <a:ext cx="421355" cy="274320"/>
          </a:xfrm>
          <a:prstGeom prst="roundRect">
            <a:avLst>
              <a:gd name="adj" fmla="val 50000"/>
            </a:avLst>
          </a:prstGeom>
          <a:solidFill>
            <a:srgbClr val="F0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4A4C4F"/>
                </a:solidFill>
                <a:latin typeface="Arial"/>
              </a:rPr>
              <a:t>tool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12064"/>
            <a:ext cx="1188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15ACB"/>
                </a:solidFill>
                <a:latin typeface="Arial"/>
              </a:rPr>
              <a:t>ARCHITECTURE · N8N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04672"/>
            <a:ext cx="11887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70A0E"/>
                </a:solidFill>
                <a:latin typeface="Arial"/>
              </a:rPr>
              <a:t>Persistence &amp; fallback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243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A4C4F"/>
                </a:solidFill>
                <a:latin typeface="Arial"/>
              </a:rPr>
              <a:t>Saving the turn and returning a reply — plus the safety net that keeps every response a 200.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4832" y="493776"/>
            <a:ext cx="347472" cy="347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7818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F9193"/>
                </a:solidFill>
                <a:latin typeface="Arial"/>
              </a:rPr>
              <a:t>handled.ai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0" y="78181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F9193"/>
                </a:solidFill>
                <a:latin typeface="Arial"/>
              </a:rPr>
              <a:t>11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6263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4A4C4F"/>
                </a:solidFill>
                <a:latin typeface="Arial"/>
              </a:rPr>
              <a:t>from specialist agent output 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783080"/>
            <a:ext cx="6263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4A4C4F"/>
                </a:solidFill>
                <a:latin typeface="Arial"/>
              </a:rPr>
              <a:t>from any LLM / agent / persist error  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148840"/>
            <a:ext cx="6263640" cy="1508760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12700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308640" y="2331720"/>
            <a:ext cx="1576791" cy="274320"/>
          </a:xfrm>
          <a:prstGeom prst="roundRect">
            <a:avLst>
              <a:gd name="adj" fmla="val 50000"/>
            </a:avLst>
          </a:prstGeom>
          <a:solidFill>
            <a:srgbClr val="F0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4A4C4F"/>
                </a:solidFill>
                <a:latin typeface="Arial"/>
              </a:rPr>
              <a:t>Code · Supabase writes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350008"/>
            <a:ext cx="4147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70A0E"/>
                </a:solidFill>
                <a:latin typeface="Arial"/>
              </a:rPr>
              <a:t>Persist + eval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770632"/>
            <a:ext cx="5861303" cy="3627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4A4C4F"/>
                </a:solidFill>
                <a:latin typeface="Arial"/>
              </a:rPr>
              <a:t>Saves both turns and the scoring record, then updates the conversation. No AI.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206496"/>
            <a:ext cx="1448409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0">
                <a:solidFill>
                  <a:srgbClr val="4A4C4F"/>
                </a:solidFill>
                <a:latin typeface="Arial"/>
              </a:rPr>
              <a:t>messages — user turn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45689" y="3206496"/>
            <a:ext cx="1897745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0">
                <a:solidFill>
                  <a:srgbClr val="4A4C4F"/>
                </a:solidFill>
                <a:latin typeface="Arial"/>
              </a:rPr>
              <a:t>messages — assistant + eval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16587" y="3206496"/>
            <a:ext cx="1897745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0">
                <a:solidFill>
                  <a:srgbClr val="4A4C4F"/>
                </a:solidFill>
                <a:latin typeface="Arial"/>
              </a:rPr>
              <a:t>conversations · last_intent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535680"/>
            <a:ext cx="1576791" cy="256032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9525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0">
                <a:solidFill>
                  <a:srgbClr val="4A4C4F"/>
                </a:solidFill>
                <a:latin typeface="Arial"/>
              </a:rPr>
              <a:t>conversations · status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1900" y="3703320"/>
            <a:ext cx="3657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8F9193"/>
                </a:solidFill>
                <a:latin typeface="Arial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977639"/>
            <a:ext cx="6263640" cy="1371600"/>
          </a:xfrm>
          <a:prstGeom prst="roundRect">
            <a:avLst>
              <a:gd name="adj" fmla="val 6666"/>
            </a:avLst>
          </a:prstGeom>
          <a:solidFill>
            <a:srgbClr val="E7F6E7"/>
          </a:solidFill>
          <a:ln w="12700">
            <a:solidFill>
              <a:srgbClr val="92D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24128" y="4178807"/>
            <a:ext cx="586130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D720A"/>
                </a:solidFill>
                <a:latin typeface="Arial"/>
              </a:rPr>
              <a:t>Respond — normal (200)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4562855"/>
            <a:ext cx="5861303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4A4C4F"/>
                </a:solidFill>
                <a:latin typeface="Arial"/>
              </a:rPr>
              <a:t>reply + intent + agent + actions + conversation_id + eval  ·  billed: true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71503" y="4178808"/>
            <a:ext cx="613928" cy="274320"/>
          </a:xfrm>
          <a:prstGeom prst="roundRect">
            <a:avLst>
              <a:gd name="adj" fmla="val 50000"/>
            </a:avLst>
          </a:prstGeom>
          <a:solidFill>
            <a:srgbClr val="E7F6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0D720A"/>
                </a:solidFill>
                <a:latin typeface="Arial"/>
              </a:rPr>
              <a:t>success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43800" y="2148840"/>
            <a:ext cx="6263640" cy="1508760"/>
          </a:xfrm>
          <a:prstGeom prst="roundRect">
            <a:avLst>
              <a:gd name="adj" fmla="val 6060"/>
            </a:avLst>
          </a:prstGeom>
          <a:solidFill>
            <a:srgbClr val="FFF9F0"/>
          </a:solidFill>
          <a:ln w="12700">
            <a:solidFill>
              <a:srgbClr val="FFE3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2350435" y="2331720"/>
            <a:ext cx="1255836" cy="274320"/>
          </a:xfrm>
          <a:prstGeom prst="roundRect">
            <a:avLst>
              <a:gd name="adj" fmla="val 50000"/>
            </a:avLst>
          </a:prstGeom>
          <a:solidFill>
            <a:srgbClr val="F0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4A4C4F"/>
                </a:solidFill>
                <a:latin typeface="Arial"/>
              </a:rPr>
              <a:t>Code · safety 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4968" y="2350008"/>
            <a:ext cx="44683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36800"/>
                </a:solidFill>
                <a:latin typeface="Arial"/>
              </a:rPr>
              <a:t>Fallback handler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4968" y="2770632"/>
            <a:ext cx="5861303" cy="3627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4A4C4F"/>
                </a:solidFill>
                <a:latin typeface="Arial"/>
              </a:rPr>
              <a:t>Composes a safe reply whenever any upstream step errors. Emergency-aware. No AI.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44968" y="3206496"/>
            <a:ext cx="1384218" cy="256032"/>
          </a:xfrm>
          <a:prstGeom prst="roundRect">
            <a:avLst>
              <a:gd name="adj" fmla="val 50000"/>
            </a:avLst>
          </a:prstGeom>
          <a:solidFill>
            <a:srgbClr val="FFF2E0"/>
          </a:solidFill>
          <a:ln w="9525">
            <a:solidFill>
              <a:srgbClr val="FFE3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0">
                <a:solidFill>
                  <a:srgbClr val="4A4C4F"/>
                </a:solidFill>
                <a:latin typeface="Arial"/>
              </a:rPr>
              <a:t>messages — fallback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02338" y="3206496"/>
            <a:ext cx="1512600" cy="256032"/>
          </a:xfrm>
          <a:prstGeom prst="roundRect">
            <a:avLst>
              <a:gd name="adj" fmla="val 50000"/>
            </a:avLst>
          </a:prstGeom>
          <a:solidFill>
            <a:srgbClr val="FFF2E0"/>
          </a:solidFill>
          <a:ln w="9525">
            <a:solidFill>
              <a:srgbClr val="FFE3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0">
                <a:solidFill>
                  <a:srgbClr val="4A4C4F"/>
                </a:solidFill>
                <a:latin typeface="Arial"/>
              </a:rPr>
              <a:t>notifications — owner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8091" y="3206496"/>
            <a:ext cx="2154509" cy="256032"/>
          </a:xfrm>
          <a:prstGeom prst="roundRect">
            <a:avLst>
              <a:gd name="adj" fmla="val 50000"/>
            </a:avLst>
          </a:prstGeom>
          <a:solidFill>
            <a:srgbClr val="FFF2E0"/>
          </a:solidFill>
          <a:ln w="9525">
            <a:solidFill>
              <a:srgbClr val="FFE3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0">
                <a:solidFill>
                  <a:srgbClr val="4A4C4F"/>
                </a:solidFill>
                <a:latin typeface="Arial"/>
              </a:rPr>
              <a:t>escalations — if emergency-like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92740" y="3703320"/>
            <a:ext cx="36576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8F9193"/>
                </a:solidFill>
                <a:latin typeface="Arial"/>
              </a:rPr>
              <a:t>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43800" y="3977639"/>
            <a:ext cx="6263640" cy="1371600"/>
          </a:xfrm>
          <a:prstGeom prst="roundRect">
            <a:avLst>
              <a:gd name="adj" fmla="val 6666"/>
            </a:avLst>
          </a:prstGeom>
          <a:solidFill>
            <a:srgbClr val="FFF9F0"/>
          </a:solidFill>
          <a:ln w="12700">
            <a:solidFill>
              <a:srgbClr val="FFE3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44968" y="4178807"/>
            <a:ext cx="586130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36800"/>
                </a:solidFill>
                <a:latin typeface="Arial"/>
              </a:rPr>
              <a:t>Respond — fallback (200)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44968" y="4562855"/>
            <a:ext cx="5861303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4A4C4F"/>
                </a:solidFill>
                <a:latin typeface="Arial"/>
              </a:rPr>
              <a:t>intent: fallback · billed: false · never a 500 — the sender always gets a 200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184916" y="4178808"/>
            <a:ext cx="421355" cy="274320"/>
          </a:xfrm>
          <a:prstGeom prst="roundRect">
            <a:avLst>
              <a:gd name="adj" fmla="val 50000"/>
            </a:avLst>
          </a:prstGeom>
          <a:solidFill>
            <a:srgbClr val="FF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B36800"/>
                </a:solidFill>
                <a:latin typeface="Arial"/>
              </a:rPr>
              <a:t>safe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623560"/>
            <a:ext cx="12984480" cy="640080"/>
          </a:xfrm>
          <a:prstGeom prst="roundRect">
            <a:avLst>
              <a:gd name="adj" fmla="val 14285"/>
            </a:avLst>
          </a:prstGeom>
          <a:solidFill>
            <a:srgbClr val="F0F0F1"/>
          </a:solidFill>
          <a:ln w="12700">
            <a:solidFill>
              <a:srgbClr val="DAD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97280" y="5623560"/>
            <a:ext cx="12435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70A0E"/>
                </a:solidFill>
                <a:latin typeface="Arial"/>
              </a:rPr>
              <a:t>Persist errors also route to the fallback handler</a:t>
            </a:r>
            <a:r>
              <a:rPr sz="1250" b="0" i="0">
                <a:solidFill>
                  <a:srgbClr val="4A4C4F"/>
                </a:solidFill>
                <a:latin typeface="Arial"/>
              </a:rPr>
              <a:t>   ·   both paths always return HTTP 200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6583680"/>
            <a:ext cx="1576791" cy="274320"/>
          </a:xfrm>
          <a:prstGeom prst="roundRect">
            <a:avLst>
              <a:gd name="adj" fmla="val 50000"/>
            </a:avLst>
          </a:prstGeom>
          <a:solidFill>
            <a:srgbClr val="F0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4A4C4F"/>
                </a:solidFill>
                <a:latin typeface="Arial"/>
              </a:rPr>
              <a:t>Code · Supabase writes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00919" y="6583680"/>
            <a:ext cx="1191646" cy="274320"/>
          </a:xfrm>
          <a:prstGeom prst="roundRect">
            <a:avLst>
              <a:gd name="adj" fmla="val 50000"/>
            </a:avLst>
          </a:prstGeom>
          <a:solidFill>
            <a:srgbClr val="E7F6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0D720A"/>
                </a:solidFill>
                <a:latin typeface="Arial"/>
              </a:rPr>
              <a:t>Success response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93733" y="6583680"/>
            <a:ext cx="1255836" cy="274320"/>
          </a:xfrm>
          <a:prstGeom prst="roundRect">
            <a:avLst>
              <a:gd name="adj" fmla="val 50000"/>
            </a:avLst>
          </a:prstGeom>
          <a:solidFill>
            <a:srgbClr val="FF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B36800"/>
                </a:solidFill>
                <a:latin typeface="Arial"/>
              </a:rPr>
              <a:t>Fallback / safety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12064"/>
            <a:ext cx="1170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04672"/>
            <a:ext cx="11704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Graded on Helpful, Honest, Harmless</a:t>
            </a:r>
            <a:endParaRPr lang="en-US" sz="2900" dirty="0"/>
          </a:p>
        </p:txBody>
      </p:sp>
      <p:pic>
        <p:nvPicPr>
          <p:cNvPr id="4" name="Image 0" descr="assets/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4832" y="493776"/>
            <a:ext cx="347472" cy="3474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463040"/>
            <a:ext cx="1261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 cases run through the live agent and analyzed using Azure AI Foundry.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148840"/>
            <a:ext cx="408432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70432" y="2496312"/>
            <a:ext cx="658368" cy="658368"/>
          </a:xfrm>
          <a:prstGeom prst="roundRect">
            <a:avLst>
              <a:gd name="adj" fmla="val 16667"/>
            </a:avLst>
          </a:prstGeom>
          <a:solidFill>
            <a:srgbClr val="E7F6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assets/icons/circle-check_13A1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8440" y="2654320"/>
            <a:ext cx="342351" cy="34235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011680" y="2606040"/>
            <a:ext cx="262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Helpful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170432" y="3337560"/>
            <a:ext cx="338937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Books the right service at a real, available slot and captures the correct name, address &amp; time.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1170432" y="4178808"/>
            <a:ext cx="33893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correct-action rate · booking conversion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273040" y="2148840"/>
            <a:ext cx="408432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5620512" y="2496312"/>
            <a:ext cx="658368" cy="658368"/>
          </a:xfrm>
          <a:prstGeom prst="roundRect">
            <a:avLst>
              <a:gd name="adj" fmla="val 16667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assets/icons/badge-check_115A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20" y="2654320"/>
            <a:ext cx="342351" cy="34235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760" y="2606040"/>
            <a:ext cx="262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5620512" y="3337560"/>
            <a:ext cx="338937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invents a price, slot, or policy; says “I'll have the owner confirm” when unsure.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5620512" y="4178808"/>
            <a:ext cx="33893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&lt; 1% · confirm compliance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9723120" y="2148840"/>
            <a:ext cx="408432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10070592" y="2496312"/>
            <a:ext cx="658368" cy="658368"/>
          </a:xfrm>
          <a:prstGeom prst="roundRect">
            <a:avLst>
              <a:gd name="adj" fmla="val 16667"/>
            </a:avLst>
          </a:prstGeom>
          <a:solidFill>
            <a:srgbClr val="F2E5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assets/icons/shield-check_7F00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8600" y="2654320"/>
            <a:ext cx="342351" cy="34235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911840" y="2606040"/>
            <a:ext cx="262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Harmless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10070592" y="3337560"/>
            <a:ext cx="338937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Escalates every emergency, never books out of area, handles PII safely.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10070592" y="4178808"/>
            <a:ext cx="33893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recall = 100% · misbooking ≤ 2%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822960" y="4937760"/>
            <a:ext cx="62636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1170432" y="526694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AEBE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assets/icons/triangle-alert_D134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02106" y="5398618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874520" y="5321808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gates (go / no-go)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1207008" y="5989320"/>
            <a:ext cx="5532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Critical failure blocks launch</a:t>
            </a:r>
            <a:endParaRPr lang="en-US" sz="12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recall must = 100%</a:t>
            </a:r>
            <a:endParaRPr lang="en-US" sz="12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&lt; 1%  ·  misbooking ≤ 2%</a:t>
            </a:r>
            <a:endParaRPr lang="en-US" sz="12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conversion ≥ manual baseline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7543800" y="4937760"/>
            <a:ext cx="62636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7891272" y="526694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5" descr="assets/icons/sparkles_115AC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22946" y="5398618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595360" y="5321808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AI Foundry export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7927848" y="6172200"/>
            <a:ext cx="1600200" cy="868680"/>
          </a:xfrm>
          <a:prstGeom prst="roundRect">
            <a:avLst>
              <a:gd name="adj" fmla="val 10526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6"/>
          <p:cNvSpPr txBox="1"/>
          <p:nvPr/>
        </p:nvSpPr>
        <p:spPr>
          <a:xfrm>
            <a:off x="8001000" y="6281928"/>
            <a:ext cx="1453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7982712" y="6574536"/>
            <a:ext cx="1490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conversations</a:t>
            </a:r>
            <a:endParaRPr lang="en-US" sz="900" dirty="0"/>
          </a:p>
        </p:txBody>
      </p:sp>
      <p:sp>
        <p:nvSpPr>
          <p:cNvPr id="36" name="Shape 28"/>
          <p:cNvSpPr/>
          <p:nvPr/>
        </p:nvSpPr>
        <p:spPr>
          <a:xfrm>
            <a:off x="9582912" y="6601968"/>
            <a:ext cx="393192" cy="0"/>
          </a:xfrm>
          <a:prstGeom prst="line">
            <a:avLst/>
          </a:prstGeom>
          <a:noFill/>
          <a:ln w="19050">
            <a:solidFill>
              <a:srgbClr val="8F91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29"/>
          <p:cNvSpPr/>
          <p:nvPr/>
        </p:nvSpPr>
        <p:spPr>
          <a:xfrm>
            <a:off x="10030968" y="6172200"/>
            <a:ext cx="1600200" cy="868680"/>
          </a:xfrm>
          <a:prstGeom prst="roundRect">
            <a:avLst>
              <a:gd name="adj" fmla="val 10526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0"/>
          <p:cNvSpPr txBox="1"/>
          <p:nvPr/>
        </p:nvSpPr>
        <p:spPr>
          <a:xfrm>
            <a:off x="10104120" y="6281928"/>
            <a:ext cx="1453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</a:t>
            </a:r>
            <a:endParaRPr lang="en-US" sz="1200" dirty="0"/>
          </a:p>
        </p:txBody>
      </p:sp>
      <p:sp>
        <p:nvSpPr>
          <p:cNvPr id="39" name="Text 31"/>
          <p:cNvSpPr txBox="1"/>
          <p:nvPr/>
        </p:nvSpPr>
        <p:spPr>
          <a:xfrm>
            <a:off x="10085832" y="6574536"/>
            <a:ext cx="1490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· response</a:t>
            </a:r>
            <a:endParaRPr lang="en-US" sz="9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 · reasoning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11686032" y="6601968"/>
            <a:ext cx="393192" cy="0"/>
          </a:xfrm>
          <a:prstGeom prst="line">
            <a:avLst/>
          </a:prstGeom>
          <a:noFill/>
          <a:ln w="19050">
            <a:solidFill>
              <a:srgbClr val="8F91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3"/>
          <p:cNvSpPr/>
          <p:nvPr/>
        </p:nvSpPr>
        <p:spPr>
          <a:xfrm>
            <a:off x="12134088" y="6172200"/>
            <a:ext cx="1600200" cy="868680"/>
          </a:xfrm>
          <a:prstGeom prst="roundRect">
            <a:avLst>
              <a:gd name="adj" fmla="val 10526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4"/>
          <p:cNvSpPr txBox="1"/>
          <p:nvPr/>
        </p:nvSpPr>
        <p:spPr>
          <a:xfrm>
            <a:off x="12207240" y="6281928"/>
            <a:ext cx="1453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</a:t>
            </a:r>
            <a:endParaRPr lang="en-US" sz="1200" dirty="0"/>
          </a:p>
        </p:txBody>
      </p:sp>
      <p:sp>
        <p:nvSpPr>
          <p:cNvPr id="43" name="Text 35"/>
          <p:cNvSpPr txBox="1"/>
          <p:nvPr/>
        </p:nvSpPr>
        <p:spPr>
          <a:xfrm>
            <a:off x="12188952" y="6574536"/>
            <a:ext cx="1490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 schema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822960" y="7818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handled.ai</a:t>
            </a:r>
            <a:endParaRPr lang="en-US" sz="1000" dirty="0"/>
          </a:p>
        </p:txBody>
      </p:sp>
      <p:sp>
        <p:nvSpPr>
          <p:cNvPr id="45" name="Text 37"/>
          <p:cNvSpPr txBox="1"/>
          <p:nvPr/>
        </p:nvSpPr>
        <p:spPr>
          <a:xfrm>
            <a:off x="11978640" y="7818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17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3AD4E4-50A9-9E4D-0351-99C9D08ED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A006CB9-F21F-AB67-0234-3D198D67BA57}"/>
              </a:ext>
            </a:extLst>
          </p:cNvPr>
          <p:cNvSpPr txBox="1"/>
          <p:nvPr/>
        </p:nvSpPr>
        <p:spPr>
          <a:xfrm>
            <a:off x="822960" y="512064"/>
            <a:ext cx="1170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D29377A-792F-10B4-6929-85FCF5451FBE}"/>
              </a:ext>
            </a:extLst>
          </p:cNvPr>
          <p:cNvSpPr txBox="1"/>
          <p:nvPr/>
        </p:nvSpPr>
        <p:spPr>
          <a:xfrm>
            <a:off x="822960" y="804672"/>
            <a:ext cx="11704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Graded on Helpful, Honest, Harmless</a:t>
            </a:r>
            <a:endParaRPr lang="en-US" sz="2900" dirty="0"/>
          </a:p>
        </p:txBody>
      </p:sp>
      <p:pic>
        <p:nvPicPr>
          <p:cNvPr id="4" name="Image 0" descr="assets/logo-mark.png">
            <a:extLst>
              <a:ext uri="{FF2B5EF4-FFF2-40B4-BE49-F238E27FC236}">
                <a16:creationId xmlns:a16="http://schemas.microsoft.com/office/drawing/2014/main" id="{382C1242-FD0E-1977-9EE0-AC8EC7BC5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4832" y="493776"/>
            <a:ext cx="347472" cy="347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61FB70E3-9A9E-5CCA-4074-74B11546A854}"/>
              </a:ext>
            </a:extLst>
          </p:cNvPr>
          <p:cNvSpPr txBox="1"/>
          <p:nvPr/>
        </p:nvSpPr>
        <p:spPr>
          <a:xfrm>
            <a:off x="822960" y="1463040"/>
            <a:ext cx="1261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 cases run through the live agent and analyzed using Azure AI Foundry.</a:t>
            </a:r>
            <a:endParaRPr lang="en-US" sz="1500" dirty="0"/>
          </a:p>
        </p:txBody>
      </p:sp>
      <p:sp>
        <p:nvSpPr>
          <p:cNvPr id="44" name="Text 36">
            <a:extLst>
              <a:ext uri="{FF2B5EF4-FFF2-40B4-BE49-F238E27FC236}">
                <a16:creationId xmlns:a16="http://schemas.microsoft.com/office/drawing/2014/main" id="{F66C8B51-7BD0-E364-6525-F5E20742DB9D}"/>
              </a:ext>
            </a:extLst>
          </p:cNvPr>
          <p:cNvSpPr txBox="1"/>
          <p:nvPr/>
        </p:nvSpPr>
        <p:spPr>
          <a:xfrm>
            <a:off x="822960" y="7818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handled.ai</a:t>
            </a:r>
            <a:endParaRPr lang="en-US" sz="1000" dirty="0"/>
          </a:p>
        </p:txBody>
      </p:sp>
      <p:sp>
        <p:nvSpPr>
          <p:cNvPr id="45" name="Text 37">
            <a:extLst>
              <a:ext uri="{FF2B5EF4-FFF2-40B4-BE49-F238E27FC236}">
                <a16:creationId xmlns:a16="http://schemas.microsoft.com/office/drawing/2014/main" id="{00131DB3-B545-F3A6-35DA-39A941887B6E}"/>
              </a:ext>
            </a:extLst>
          </p:cNvPr>
          <p:cNvSpPr txBox="1"/>
          <p:nvPr/>
        </p:nvSpPr>
        <p:spPr>
          <a:xfrm>
            <a:off x="11978640" y="7818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17</a:t>
            </a:r>
            <a:endParaRPr lang="en-US" sz="1000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2E5186DE-2937-9A2D-3001-5D3E0255473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703" t="76998" r="45379"/>
          <a:stretch>
            <a:fillRect/>
          </a:stretch>
        </p:blipFill>
        <p:spPr>
          <a:xfrm>
            <a:off x="571872" y="1982676"/>
            <a:ext cx="11502899" cy="1262265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F55528B-70B2-9695-DAE3-566F52DA5DA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6656" t="72275"/>
          <a:stretch>
            <a:fillRect/>
          </a:stretch>
        </p:blipFill>
        <p:spPr>
          <a:xfrm>
            <a:off x="751804" y="5760130"/>
            <a:ext cx="11605991" cy="14571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45E7B8-8A7D-AF81-50F4-412E055A1D0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981" t="72275" r="53122"/>
          <a:stretch>
            <a:fillRect/>
          </a:stretch>
        </p:blipFill>
        <p:spPr>
          <a:xfrm>
            <a:off x="505996" y="4381075"/>
            <a:ext cx="10201333" cy="15564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F91CF91-A92F-20AD-6A29-6659C768748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621" t="76998"/>
          <a:stretch>
            <a:fillRect/>
          </a:stretch>
        </p:blipFill>
        <p:spPr>
          <a:xfrm>
            <a:off x="751804" y="3363617"/>
            <a:ext cx="10054348" cy="126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338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12064"/>
            <a:ext cx="1170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04672"/>
            <a:ext cx="11704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Flat, transparent pricing that makes ROI obvious</a:t>
            </a:r>
            <a:endParaRPr lang="en-US" sz="2900" dirty="0"/>
          </a:p>
        </p:txBody>
      </p:sp>
      <p:pic>
        <p:nvPicPr>
          <p:cNvPr id="4" name="Image 0" descr="assets/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4832" y="493776"/>
            <a:ext cx="347472" cy="3474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463040"/>
            <a:ext cx="1261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monthly tiers with included usage and a hard cap — answering the category's #1 complaint: surprise billing.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103120"/>
            <a:ext cx="408432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1188720" y="2423160"/>
            <a:ext cx="225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2834640"/>
            <a:ext cx="335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$149</a:t>
            </a: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/mo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3474720"/>
            <a:ext cx="335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solo operator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207008" y="3886200"/>
            <a:ext cx="33528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business number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answering + booking into 1 FSM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Missed-call text-back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Transcripts &amp; summaries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Spam filtering · hard spend cap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273040" y="2103120"/>
            <a:ext cx="4084320" cy="3657600"/>
          </a:xfrm>
          <a:prstGeom prst="roundRect">
            <a:avLst>
              <a:gd name="adj" fmla="val 3000"/>
            </a:avLst>
          </a:prstGeom>
          <a:solidFill>
            <a:srgbClr val="E7EFFC"/>
          </a:solidFill>
          <a:ln w="12700">
            <a:solidFill>
              <a:srgbClr val="115A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7574280" y="239572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7574280" y="2404872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5638800" y="2423160"/>
            <a:ext cx="225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638800" y="2834640"/>
            <a:ext cx="335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$299</a:t>
            </a: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/mo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5638800" y="3474720"/>
            <a:ext cx="335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small teams (2–10)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657088" y="3886200"/>
            <a:ext cx="33528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in Starter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triage &amp; warm transfer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Multi-tech dispatch logic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Outbound follow-up · Spanish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dashboard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723120" y="2103120"/>
            <a:ext cx="408432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10088880" y="2423160"/>
            <a:ext cx="225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10088880" y="2834640"/>
            <a:ext cx="335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$599</a:t>
            </a:r>
            <a:r>
              <a:rPr lang="en-US" sz="13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/mo</a:t>
            </a:r>
            <a:endParaRPr lang="en-US" sz="3200" dirty="0"/>
          </a:p>
        </p:txBody>
      </p:sp>
      <p:sp>
        <p:nvSpPr>
          <p:cNvPr id="21" name="Text 18"/>
          <p:cNvSpPr txBox="1"/>
          <p:nvPr/>
        </p:nvSpPr>
        <p:spPr>
          <a:xfrm>
            <a:off x="10088880" y="3474720"/>
            <a:ext cx="335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Multi-location / high volume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0107168" y="3886200"/>
            <a:ext cx="33528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in Pro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numbers &amp; locations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support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intelligence (sentiment, trends)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22960" y="5989320"/>
            <a:ext cx="12984480" cy="1417320"/>
          </a:xfrm>
          <a:prstGeom prst="roundRect">
            <a:avLst>
              <a:gd name="adj" fmla="val 7742"/>
            </a:avLst>
          </a:prstGeom>
          <a:solidFill>
            <a:srgbClr val="082A5E"/>
          </a:solidFill>
          <a:ln w="12700">
            <a:solidFill>
              <a:srgbClr val="082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1188720" y="640080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1" descr="assets/icons/hand-coin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561" y="6545641"/>
            <a:ext cx="313822" cy="313822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2011680" y="6227064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Star: Captured Opportunity Value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2011680" y="66294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B6C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recovered ~$1,200 job pays for months of Handled — above a budget receptionist, far below a $42–62K/yr office manager.</a:t>
            </a:r>
            <a:endParaRPr lang="en-US" sz="1250" dirty="0"/>
          </a:p>
        </p:txBody>
      </p:sp>
      <p:pic>
        <p:nvPicPr>
          <p:cNvPr id="28" name="Image 2" descr="assets/icons/circle-check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2155" y="6281928"/>
            <a:ext cx="201168" cy="20116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904763" y="623620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price, no per-minute surprises</a:t>
            </a:r>
            <a:endParaRPr lang="en-US" sz="1200" dirty="0"/>
          </a:p>
        </p:txBody>
      </p:sp>
      <p:pic>
        <p:nvPicPr>
          <p:cNvPr id="30" name="Image 3" descr="assets/icons/circle-check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2155" y="6629400"/>
            <a:ext cx="201168" cy="201168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904763" y="65836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hard spend cap you control</a:t>
            </a:r>
            <a:endParaRPr lang="en-US" sz="1200" dirty="0"/>
          </a:p>
        </p:txBody>
      </p:sp>
      <p:pic>
        <p:nvPicPr>
          <p:cNvPr id="32" name="Image 4" descr="assets/icons/circle-check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2155" y="6976872"/>
            <a:ext cx="201168" cy="201168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904763" y="6931152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charged for spam or hangups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822960" y="7818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9B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handled.ai</a:t>
            </a:r>
            <a:endParaRPr lang="en-US" sz="1000" dirty="0"/>
          </a:p>
        </p:txBody>
      </p:sp>
      <p:sp>
        <p:nvSpPr>
          <p:cNvPr id="35" name="Text 28"/>
          <p:cNvSpPr txBox="1"/>
          <p:nvPr/>
        </p:nvSpPr>
        <p:spPr>
          <a:xfrm>
            <a:off x="11978640" y="7818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9B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17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12064"/>
            <a:ext cx="1170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15ACB"/>
                </a:solidFill>
                <a:latin typeface="Arial" pitchFamily="34" charset="0"/>
                <a:cs typeface="Arial" pitchFamily="34" charset="-120"/>
              </a:rPr>
              <a:t>My Takeaways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04672"/>
            <a:ext cx="11704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Learned</a:t>
            </a:r>
            <a:endParaRPr lang="en-US" sz="2900" dirty="0"/>
          </a:p>
        </p:txBody>
      </p:sp>
      <p:pic>
        <p:nvPicPr>
          <p:cNvPr id="4" name="Image 0" descr="assets/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4832" y="493776"/>
            <a:ext cx="347472" cy="3474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463040"/>
            <a:ext cx="1234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choice in the flow answers a question a reviewer would ask.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148840"/>
            <a:ext cx="408432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43000" y="24688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assets/icons/route_115A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9063" y="2604943"/>
            <a:ext cx="294803" cy="2948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828800" y="2514600"/>
            <a:ext cx="2849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Multi-Agents Solutions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3246120"/>
            <a:ext cx="344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agents enabled workflow depth and the ability to support multiple types of queries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273040" y="2148840"/>
            <a:ext cx="408432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593080" y="24688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assets/icons/gauge_115A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9143" y="2604943"/>
            <a:ext cx="294803" cy="29480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278880" y="2514600"/>
            <a:ext cx="2849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work first</a:t>
            </a:r>
            <a:endParaRPr lang="en-US" sz="1450" dirty="0"/>
          </a:p>
        </p:txBody>
      </p:sp>
      <p:sp>
        <p:nvSpPr>
          <p:cNvPr id="15" name="Text 10"/>
          <p:cNvSpPr txBox="1"/>
          <p:nvPr/>
        </p:nvSpPr>
        <p:spPr>
          <a:xfrm>
            <a:off x="5593080" y="3246120"/>
            <a:ext cx="344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small Haiku classifiers filter spam and route intent before any Sonnet specialist runs.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9723120" y="2148840"/>
            <a:ext cx="408432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10043160" y="24688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assets/icons/lock_115AC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9223" y="2604943"/>
            <a:ext cx="294803" cy="29480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728960" y="2514600"/>
            <a:ext cx="2849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improves CX</a:t>
            </a:r>
            <a:endParaRPr lang="en-US" sz="1450" dirty="0"/>
          </a:p>
        </p:txBody>
      </p:sp>
      <p:sp>
        <p:nvSpPr>
          <p:cNvPr id="20" name="Text 14"/>
          <p:cNvSpPr txBox="1"/>
          <p:nvPr/>
        </p:nvSpPr>
        <p:spPr>
          <a:xfrm>
            <a:off x="10043160" y="3246120"/>
            <a:ext cx="344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Keeping memory of previous chats and mixing that with customer context enables richer experience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822960" y="4526280"/>
            <a:ext cx="408432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1143000" y="48463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4" descr="assets/icons/badge-check_115AC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9063" y="4982383"/>
            <a:ext cx="294803" cy="294803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828800" y="4892040"/>
            <a:ext cx="2849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Evals are key</a:t>
            </a:r>
            <a:endParaRPr lang="en-US" sz="1450" dirty="0"/>
          </a:p>
        </p:txBody>
      </p:sp>
      <p:sp>
        <p:nvSpPr>
          <p:cNvPr id="25" name="Text 18"/>
          <p:cNvSpPr txBox="1"/>
          <p:nvPr/>
        </p:nvSpPr>
        <p:spPr>
          <a:xfrm>
            <a:off x="1143000" y="5623560"/>
            <a:ext cx="344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4A4C4F"/>
                </a:solidFill>
                <a:latin typeface="Arial" pitchFamily="34" charset="0"/>
                <a:cs typeface="Arial" pitchFamily="34" charset="-120"/>
              </a:rPr>
              <a:t>Evals are the best way to determine the effectiveness of an AI Agent system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5273040" y="4526280"/>
            <a:ext cx="408432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0"/>
          <p:cNvSpPr/>
          <p:nvPr/>
        </p:nvSpPr>
        <p:spPr>
          <a:xfrm>
            <a:off x="5593080" y="48463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5" descr="assets/icons/siren_115AC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9143" y="4982383"/>
            <a:ext cx="294803" cy="294803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278880" y="4892040"/>
            <a:ext cx="2849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Dev-OS rocks</a:t>
            </a:r>
            <a:endParaRPr lang="en-US" sz="1450" dirty="0"/>
          </a:p>
        </p:txBody>
      </p:sp>
      <p:sp>
        <p:nvSpPr>
          <p:cNvPr id="30" name="Text 22"/>
          <p:cNvSpPr txBox="1"/>
          <p:nvPr/>
        </p:nvSpPr>
        <p:spPr>
          <a:xfrm>
            <a:off x="5593080" y="5623560"/>
            <a:ext cx="344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4A4C4F"/>
                </a:solidFill>
                <a:latin typeface="Arial" pitchFamily="34" charset="0"/>
                <a:cs typeface="Arial" pitchFamily="34" charset="-120"/>
              </a:rPr>
              <a:t>Helped me build the marketing, customer site, backend (</a:t>
            </a:r>
            <a:r>
              <a:rPr lang="en-US" sz="1200" dirty="0" err="1">
                <a:solidFill>
                  <a:srgbClr val="4A4C4F"/>
                </a:solidFill>
                <a:latin typeface="Arial" pitchFamily="34" charset="0"/>
                <a:cs typeface="Arial" pitchFamily="34" charset="-120"/>
              </a:rPr>
              <a:t>supabase</a:t>
            </a:r>
            <a:r>
              <a:rPr lang="en-US" sz="1200" dirty="0">
                <a:solidFill>
                  <a:srgbClr val="4A4C4F"/>
                </a:solidFill>
                <a:latin typeface="Arial" pitchFamily="34" charset="0"/>
                <a:cs typeface="Arial" pitchFamily="34" charset="-120"/>
              </a:rPr>
              <a:t>, n8n) and test harness easily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9723120" y="4526280"/>
            <a:ext cx="408432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4"/>
          <p:cNvSpPr/>
          <p:nvPr/>
        </p:nvSpPr>
        <p:spPr>
          <a:xfrm>
            <a:off x="10043160" y="48463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6" descr="assets/icons/shield-check_115AC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79223" y="4982383"/>
            <a:ext cx="294803" cy="294803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0728960" y="4892040"/>
            <a:ext cx="2849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070A0E"/>
                </a:solidFill>
                <a:latin typeface="Arial" pitchFamily="34" charset="0"/>
                <a:cs typeface="Arial" pitchFamily="34" charset="-120"/>
              </a:rPr>
              <a:t>Pricing for AI is challenging</a:t>
            </a:r>
            <a:endParaRPr lang="en-US" sz="1450" dirty="0"/>
          </a:p>
        </p:txBody>
      </p:sp>
      <p:sp>
        <p:nvSpPr>
          <p:cNvPr id="35" name="Text 26"/>
          <p:cNvSpPr txBox="1"/>
          <p:nvPr/>
        </p:nvSpPr>
        <p:spPr>
          <a:xfrm>
            <a:off x="10043160" y="5623560"/>
            <a:ext cx="344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already has 10 named players with price cutting already happening. VC capital is extending the fight. </a:t>
            </a:r>
            <a:endParaRPr lang="en-US" sz="1200" dirty="0"/>
          </a:p>
        </p:txBody>
      </p:sp>
      <p:sp>
        <p:nvSpPr>
          <p:cNvPr id="36" name="Text 27"/>
          <p:cNvSpPr txBox="1"/>
          <p:nvPr/>
        </p:nvSpPr>
        <p:spPr>
          <a:xfrm>
            <a:off x="822960" y="7818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handled.ai</a:t>
            </a:r>
            <a:endParaRPr lang="en-US" sz="1000" dirty="0"/>
          </a:p>
        </p:txBody>
      </p:sp>
      <p:sp>
        <p:nvSpPr>
          <p:cNvPr id="37" name="Text 28"/>
          <p:cNvSpPr txBox="1"/>
          <p:nvPr/>
        </p:nvSpPr>
        <p:spPr>
          <a:xfrm>
            <a:off x="11978640" y="7818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17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12064"/>
            <a:ext cx="1170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 &amp; STACK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04672"/>
            <a:ext cx="11704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using dev-</a:t>
            </a:r>
            <a:r>
              <a:rPr lang="en-US" sz="2900" b="1" dirty="0" err="1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</a:t>
            </a:r>
            <a:r>
              <a:rPr lang="en-US" sz="29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on a modern agentic stack</a:t>
            </a:r>
            <a:endParaRPr lang="en-US" sz="2900" dirty="0"/>
          </a:p>
        </p:txBody>
      </p:sp>
      <p:pic>
        <p:nvPicPr>
          <p:cNvPr id="4" name="Image 0" descr="assets/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4832" y="493776"/>
            <a:ext cx="347472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2148840"/>
            <a:ext cx="4297680" cy="4160520"/>
          </a:xfrm>
          <a:prstGeom prst="roundRect">
            <a:avLst>
              <a:gd name="adj" fmla="val 2637"/>
            </a:avLst>
          </a:prstGeom>
          <a:solidFill>
            <a:srgbClr val="082A5E"/>
          </a:solidFill>
          <a:ln w="12700">
            <a:solidFill>
              <a:srgbClr val="082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234440" y="2606040"/>
            <a:ext cx="914400" cy="914400"/>
          </a:xfrm>
          <a:prstGeom prst="roundRect">
            <a:avLst>
              <a:gd name="adj" fmla="val 12000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assets/icons/use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3896" y="282549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37490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Francis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1234440" y="42062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9B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&amp; build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234440" y="4663440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B6C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Designed, built, and deployed all three apps — the product brief, the architecture, the UI, the agentic backend, and the eval pipeline.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577840" y="2148840"/>
            <a:ext cx="3931920" cy="914400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833872" y="235000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assets/icons/layers_115A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6767" y="2472903"/>
            <a:ext cx="266273" cy="26627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37960" y="231343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14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537960" y="26426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Router · TS strict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875520" y="2148840"/>
            <a:ext cx="3931920" cy="914400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10131552" y="235000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assets/icons/database_115AC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4447" y="2472903"/>
            <a:ext cx="266273" cy="26627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835640" y="231343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0835640" y="26426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tables · RLS · realtime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5577840" y="3364992"/>
            <a:ext cx="3931920" cy="914400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5833872" y="3566160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4" descr="assets/icons/git-branch_115AC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6767" y="3689055"/>
            <a:ext cx="266273" cy="266273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537960" y="352958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6537960" y="385876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52-node agentic workflow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9875520" y="3364992"/>
            <a:ext cx="3931920" cy="914400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0"/>
          <p:cNvSpPr/>
          <p:nvPr/>
        </p:nvSpPr>
        <p:spPr>
          <a:xfrm>
            <a:off x="10131552" y="3566160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5" descr="assets/icons/bot_115AC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54447" y="3689055"/>
            <a:ext cx="266273" cy="266273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0835640" y="352958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10835640" y="385876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+ Haiku, tiered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5577840" y="4581144"/>
            <a:ext cx="3931920" cy="914400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4"/>
          <p:cNvSpPr/>
          <p:nvPr/>
        </p:nvSpPr>
        <p:spPr>
          <a:xfrm>
            <a:off x="5833872" y="4782312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6" descr="assets/icons/sparkles_115AC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6767" y="4905207"/>
            <a:ext cx="266273" cy="266273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6537960" y="474573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AI Foundry</a:t>
            </a:r>
            <a:endParaRPr lang="en-US" sz="1500" dirty="0"/>
          </a:p>
        </p:txBody>
      </p:sp>
      <p:sp>
        <p:nvSpPr>
          <p:cNvPr id="35" name="Text 26"/>
          <p:cNvSpPr txBox="1"/>
          <p:nvPr/>
        </p:nvSpPr>
        <p:spPr>
          <a:xfrm>
            <a:off x="6537960" y="50749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 schema</a:t>
            </a:r>
            <a:endParaRPr lang="en-US" sz="1100" dirty="0"/>
          </a:p>
        </p:txBody>
      </p:sp>
      <p:sp>
        <p:nvSpPr>
          <p:cNvPr id="36" name="Shape 27"/>
          <p:cNvSpPr/>
          <p:nvPr/>
        </p:nvSpPr>
        <p:spPr>
          <a:xfrm>
            <a:off x="9875520" y="4581144"/>
            <a:ext cx="3931920" cy="914400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28"/>
          <p:cNvSpPr/>
          <p:nvPr/>
        </p:nvSpPr>
        <p:spPr>
          <a:xfrm>
            <a:off x="10131552" y="4782312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8" name="Image 7" descr="assets/icons/globe_115AC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54447" y="4905207"/>
            <a:ext cx="266273" cy="266273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10835640" y="474573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Netlify</a:t>
            </a:r>
            <a:endParaRPr lang="en-US" sz="1500" dirty="0"/>
          </a:p>
        </p:txBody>
      </p:sp>
      <p:sp>
        <p:nvSpPr>
          <p:cNvPr id="40" name="Text 30"/>
          <p:cNvSpPr txBox="1"/>
          <p:nvPr/>
        </p:nvSpPr>
        <p:spPr>
          <a:xfrm>
            <a:off x="10835640" y="50749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live sites</a:t>
            </a:r>
            <a:endParaRPr lang="en-US" sz="1100" dirty="0"/>
          </a:p>
        </p:txBody>
      </p:sp>
      <p:sp>
        <p:nvSpPr>
          <p:cNvPr id="41" name="Shape 31"/>
          <p:cNvSpPr/>
          <p:nvPr/>
        </p:nvSpPr>
        <p:spPr>
          <a:xfrm>
            <a:off x="5577840" y="5797296"/>
            <a:ext cx="3931920" cy="914400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2"/>
          <p:cNvSpPr/>
          <p:nvPr/>
        </p:nvSpPr>
        <p:spPr>
          <a:xfrm>
            <a:off x="5833872" y="5998464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3" name="Image 8" descr="assets/icons/file-text_115AC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56767" y="6121359"/>
            <a:ext cx="266273" cy="266273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6537960" y="596188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</a:t>
            </a:r>
            <a:endParaRPr lang="en-US" sz="1500" dirty="0"/>
          </a:p>
        </p:txBody>
      </p:sp>
      <p:sp>
        <p:nvSpPr>
          <p:cNvPr id="45" name="Text 34"/>
          <p:cNvSpPr txBox="1"/>
          <p:nvPr/>
        </p:nvSpPr>
        <p:spPr>
          <a:xfrm>
            <a:off x="6537960" y="62910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Zod contracts</a:t>
            </a:r>
            <a:endParaRPr lang="en-US" sz="1100" dirty="0"/>
          </a:p>
        </p:txBody>
      </p:sp>
      <p:sp>
        <p:nvSpPr>
          <p:cNvPr id="46" name="Shape 35"/>
          <p:cNvSpPr/>
          <p:nvPr/>
        </p:nvSpPr>
        <p:spPr>
          <a:xfrm>
            <a:off x="9875520" y="5797296"/>
            <a:ext cx="3931920" cy="914400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36"/>
          <p:cNvSpPr/>
          <p:nvPr/>
        </p:nvSpPr>
        <p:spPr>
          <a:xfrm>
            <a:off x="10131552" y="5998464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E7EF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8" name="Image 9" descr="assets/icons/circle-check_115AC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54447" y="6121359"/>
            <a:ext cx="266273" cy="266273"/>
          </a:xfrm>
          <a:prstGeom prst="rect">
            <a:avLst/>
          </a:prstGeom>
        </p:spPr>
      </p:pic>
      <p:sp>
        <p:nvSpPr>
          <p:cNvPr id="49" name="Text 37"/>
          <p:cNvSpPr txBox="1"/>
          <p:nvPr/>
        </p:nvSpPr>
        <p:spPr>
          <a:xfrm>
            <a:off x="10835640" y="596188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 + Playwright</a:t>
            </a:r>
            <a:endParaRPr lang="en-US" sz="1500" dirty="0"/>
          </a:p>
        </p:txBody>
      </p:sp>
      <p:sp>
        <p:nvSpPr>
          <p:cNvPr id="50" name="Text 38"/>
          <p:cNvSpPr txBox="1"/>
          <p:nvPr/>
        </p:nvSpPr>
        <p:spPr>
          <a:xfrm>
            <a:off x="10835640" y="62910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· integration · E2E</a:t>
            </a:r>
            <a:endParaRPr lang="en-US" sz="1100" dirty="0"/>
          </a:p>
        </p:txBody>
      </p:sp>
      <p:sp>
        <p:nvSpPr>
          <p:cNvPr id="51" name="Text 39"/>
          <p:cNvSpPr txBox="1"/>
          <p:nvPr/>
        </p:nvSpPr>
        <p:spPr>
          <a:xfrm>
            <a:off x="822960" y="7818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handled.ai</a:t>
            </a:r>
            <a:endParaRPr lang="en-US" sz="1000" dirty="0"/>
          </a:p>
        </p:txBody>
      </p:sp>
      <p:sp>
        <p:nvSpPr>
          <p:cNvPr id="52" name="Text 40"/>
          <p:cNvSpPr txBox="1"/>
          <p:nvPr/>
        </p:nvSpPr>
        <p:spPr>
          <a:xfrm>
            <a:off x="11978640" y="7818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17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12064"/>
            <a:ext cx="1170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15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04672"/>
            <a:ext cx="11704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MVP to launch</a:t>
            </a:r>
            <a:endParaRPr lang="en-US" sz="2900" dirty="0"/>
          </a:p>
        </p:txBody>
      </p:sp>
      <p:pic>
        <p:nvPicPr>
          <p:cNvPr id="4" name="Image 0" descr="assets/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4832" y="493776"/>
            <a:ext cx="347472" cy="3474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463040"/>
            <a:ext cx="1261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value + highest frequency first; the riskiest surfaces get the most guardrail investment.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377440"/>
            <a:ext cx="3006090" cy="3383280"/>
          </a:xfrm>
          <a:prstGeom prst="roundRect">
            <a:avLst>
              <a:gd name="adj" fmla="val 3650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43000" y="2743200"/>
            <a:ext cx="2366010" cy="502920"/>
          </a:xfrm>
          <a:prstGeom prst="roundRect">
            <a:avLst>
              <a:gd name="adj" fmla="val 18182"/>
            </a:avLst>
          </a:prstGeom>
          <a:solidFill>
            <a:srgbClr val="115A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1143000" y="2752344"/>
            <a:ext cx="236601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383280"/>
            <a:ext cx="236601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~8–10 wks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70432" y="3840480"/>
            <a:ext cx="234772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answer + book into Jobber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Service-area check · SMS confirm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Missed-call text-back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Transcript + summary + notify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Spam filtering · flat pricing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149090" y="2377440"/>
            <a:ext cx="3006090" cy="3383280"/>
          </a:xfrm>
          <a:prstGeom prst="roundRect">
            <a:avLst>
              <a:gd name="adj" fmla="val 3650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469130" y="2743200"/>
            <a:ext cx="2366010" cy="502920"/>
          </a:xfrm>
          <a:prstGeom prst="roundRect">
            <a:avLst>
              <a:gd name="adj" fmla="val 18182"/>
            </a:avLst>
          </a:prstGeom>
          <a:solidFill>
            <a:srgbClr val="0D46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4469130" y="2752344"/>
            <a:ext cx="236601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1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469130" y="3383280"/>
            <a:ext cx="236601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+6–8 wks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496562" y="3840480"/>
            <a:ext cx="234772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triage + warm transfer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Housecall Pro + ServiceTitan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Configurable business rules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v1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/ Spanish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475220" y="2377440"/>
            <a:ext cx="3006090" cy="3383280"/>
          </a:xfrm>
          <a:prstGeom prst="roundRect">
            <a:avLst>
              <a:gd name="adj" fmla="val 3650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7795260" y="2743200"/>
            <a:ext cx="2366010" cy="502920"/>
          </a:xfrm>
          <a:prstGeom prst="roundRect">
            <a:avLst>
              <a:gd name="adj" fmla="val 18182"/>
            </a:avLst>
          </a:prstGeom>
          <a:solidFill>
            <a:srgbClr val="7F00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7795260" y="2752344"/>
            <a:ext cx="236601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795260" y="3383280"/>
            <a:ext cx="236601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+8–10 wks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822692" y="3840480"/>
            <a:ext cx="234772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Multi-tech dispatch logic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Outbound follow-up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Multi-location support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A2P 10DLC at scale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+ spend caps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10801350" y="2377440"/>
            <a:ext cx="3006090" cy="3383280"/>
          </a:xfrm>
          <a:prstGeom prst="roundRect">
            <a:avLst>
              <a:gd name="adj" fmla="val 3650"/>
            </a:avLst>
          </a:prstGeom>
          <a:solidFill>
            <a:srgbClr val="FFFFFF"/>
          </a:solidFill>
          <a:ln w="12700">
            <a:solidFill>
              <a:srgbClr val="DADA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11121390" y="2743200"/>
            <a:ext cx="2366010" cy="502920"/>
          </a:xfrm>
          <a:prstGeom prst="roundRect">
            <a:avLst>
              <a:gd name="adj" fmla="val 18182"/>
            </a:avLst>
          </a:prstGeom>
          <a:solidFill>
            <a:srgbClr val="4A4C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11121390" y="2752344"/>
            <a:ext cx="236601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1121390" y="3383280"/>
            <a:ext cx="236601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4A4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1148822" y="3840480"/>
            <a:ext cx="234772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intelligence &amp; tagging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FSM / CRM integrations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Additional trades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Quality-score metric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70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Self-serve onboarding polish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7818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handled.ai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1978640" y="7818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91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731520"/>
            <a:ext cx="566928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481328" y="768096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834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get you Handled.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97764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B6C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office manager that answers, books, and follows up — so you never lose the next job to a missed call.</a:t>
            </a:r>
            <a:endParaRPr lang="en-US" sz="17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9A6BCA7-7B4F-D27C-41E0-D74808BDC7A7}"/>
              </a:ext>
            </a:extLst>
          </p:cNvPr>
          <p:cNvGrpSpPr/>
          <p:nvPr/>
        </p:nvGrpSpPr>
        <p:grpSpPr>
          <a:xfrm>
            <a:off x="891540" y="5108628"/>
            <a:ext cx="10104120" cy="585216"/>
            <a:chOff x="822960" y="6108192"/>
            <a:chExt cx="10104120" cy="585216"/>
          </a:xfrm>
        </p:grpSpPr>
        <p:sp>
          <p:nvSpPr>
            <p:cNvPr id="14" name="Shape 9"/>
            <p:cNvSpPr/>
            <p:nvPr/>
          </p:nvSpPr>
          <p:spPr>
            <a:xfrm>
              <a:off x="822960" y="6126480"/>
              <a:ext cx="566928" cy="566928"/>
            </a:xfrm>
            <a:prstGeom prst="roundRect">
              <a:avLst>
                <a:gd name="adj" fmla="val 16129"/>
              </a:avLst>
            </a:prstGeom>
            <a:solidFill>
              <a:srgbClr val="0A367B"/>
            </a:solidFill>
            <a:ln/>
          </p:spPr>
          <p:txBody>
            <a:bodyPr/>
            <a:lstStyle/>
            <a:p>
              <a:endParaRPr lang="en-US"/>
            </a:p>
          </p:txBody>
        </p:sp>
        <p:pic>
          <p:nvPicPr>
            <p:cNvPr id="15" name="Image 3" descr="assets/icons/gauge_FFFFFF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9023" y="6262543"/>
              <a:ext cx="294803" cy="294803"/>
            </a:xfrm>
            <a:prstGeom prst="rect">
              <a:avLst/>
            </a:prstGeom>
          </p:spPr>
        </p:pic>
        <p:sp>
          <p:nvSpPr>
            <p:cNvPr id="16" name="Text 10"/>
            <p:cNvSpPr txBox="1"/>
            <p:nvPr/>
          </p:nvSpPr>
          <p:spPr>
            <a:xfrm>
              <a:off x="1600200" y="6108192"/>
              <a:ext cx="420624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89B7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Customer Login</a:t>
              </a:r>
              <a:endParaRPr lang="en-US" sz="1300" dirty="0"/>
            </a:p>
          </p:txBody>
        </p:sp>
        <p:sp>
          <p:nvSpPr>
            <p:cNvPr id="17" name="Text 11"/>
            <p:cNvSpPr txBox="1"/>
            <p:nvPr/>
          </p:nvSpPr>
          <p:spPr>
            <a:xfrm>
              <a:off x="1600200" y="6400800"/>
              <a:ext cx="420624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handled-customer-app.netlify.app</a:t>
              </a:r>
              <a:endParaRPr lang="en-US" sz="1400" dirty="0"/>
            </a:p>
          </p:txBody>
        </p:sp>
        <p:sp>
          <p:nvSpPr>
            <p:cNvPr id="18" name="Shape 12"/>
            <p:cNvSpPr/>
            <p:nvPr/>
          </p:nvSpPr>
          <p:spPr>
            <a:xfrm>
              <a:off x="5943600" y="6126480"/>
              <a:ext cx="566928" cy="566928"/>
            </a:xfrm>
            <a:prstGeom prst="roundRect">
              <a:avLst>
                <a:gd name="adj" fmla="val 16129"/>
              </a:avLst>
            </a:prstGeom>
            <a:solidFill>
              <a:srgbClr val="0A367B"/>
            </a:solidFill>
            <a:ln/>
          </p:spPr>
          <p:txBody>
            <a:bodyPr/>
            <a:lstStyle/>
            <a:p>
              <a:endParaRPr lang="en-US"/>
            </a:p>
          </p:txBody>
        </p:sp>
        <p:pic>
          <p:nvPicPr>
            <p:cNvPr id="19" name="Image 4" descr="assets/icons/message-square_FFFFFF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79663" y="6262543"/>
              <a:ext cx="294803" cy="294803"/>
            </a:xfrm>
            <a:prstGeom prst="rect">
              <a:avLst/>
            </a:prstGeom>
          </p:spPr>
        </p:pic>
        <p:sp>
          <p:nvSpPr>
            <p:cNvPr id="20" name="Text 13"/>
            <p:cNvSpPr txBox="1"/>
            <p:nvPr/>
          </p:nvSpPr>
          <p:spPr>
            <a:xfrm>
              <a:off x="6720840" y="6108192"/>
              <a:ext cx="420624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89B7FF"/>
                  </a:solidFill>
                  <a:latin typeface="Arial" pitchFamily="34" charset="0"/>
                  <a:cs typeface="Arial" pitchFamily="34" charset="-120"/>
                </a:rPr>
                <a:t>Marketing Website</a:t>
              </a:r>
              <a:endParaRPr lang="en-US" sz="1300" dirty="0"/>
            </a:p>
          </p:txBody>
        </p:sp>
        <p:sp>
          <p:nvSpPr>
            <p:cNvPr id="21" name="Text 14"/>
            <p:cNvSpPr txBox="1"/>
            <p:nvPr/>
          </p:nvSpPr>
          <p:spPr>
            <a:xfrm>
              <a:off x="6720840" y="6400800"/>
              <a:ext cx="420624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handled-website-ajik.netlify.app</a:t>
              </a:r>
              <a:endParaRPr lang="en-US" sz="1400" dirty="0"/>
            </a:p>
          </p:txBody>
        </p:sp>
      </p:grpSp>
      <p:sp>
        <p:nvSpPr>
          <p:cNvPr id="22" name="Text 15"/>
          <p:cNvSpPr txBox="1"/>
          <p:nvPr/>
        </p:nvSpPr>
        <p:spPr>
          <a:xfrm>
            <a:off x="822960" y="7680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9B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Francis  ·  AI Product Capstone  ·  2026</a:t>
            </a:r>
            <a:endParaRPr lang="en-US" sz="120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B58220B-3A82-9828-2EAC-38BBCEF9ACF3}"/>
              </a:ext>
            </a:extLst>
          </p:cNvPr>
          <p:cNvGrpSpPr/>
          <p:nvPr/>
        </p:nvGrpSpPr>
        <p:grpSpPr>
          <a:xfrm>
            <a:off x="822960" y="6291387"/>
            <a:ext cx="10104120" cy="733083"/>
            <a:chOff x="822960" y="5141155"/>
            <a:chExt cx="10104120" cy="733083"/>
          </a:xfrm>
        </p:grpSpPr>
        <p:sp>
          <p:nvSpPr>
            <p:cNvPr id="8" name="Text 4"/>
            <p:cNvSpPr txBox="1"/>
            <p:nvPr/>
          </p:nvSpPr>
          <p:spPr>
            <a:xfrm>
              <a:off x="1600200" y="5193792"/>
              <a:ext cx="420624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89B7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LinkedIn</a:t>
              </a:r>
              <a:endParaRPr lang="en-US" sz="1300" dirty="0"/>
            </a:p>
          </p:txBody>
        </p:sp>
        <p:sp>
          <p:nvSpPr>
            <p:cNvPr id="9" name="Text 5"/>
            <p:cNvSpPr txBox="1"/>
            <p:nvPr/>
          </p:nvSpPr>
          <p:spPr>
            <a:xfrm>
              <a:off x="1600200" y="5486400"/>
              <a:ext cx="420624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400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https://</a:t>
              </a:r>
              <a:r>
                <a:rPr lang="en-US" sz="1400" dirty="0" err="1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www.linkedin.com</a:t>
              </a:r>
              <a:r>
                <a:rPr lang="en-US" sz="1400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/in/</a:t>
              </a:r>
              <a:r>
                <a:rPr lang="en-US" sz="1400" dirty="0" err="1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johnfrancisny</a:t>
              </a:r>
              <a:endParaRPr lang="en-US" sz="1400" dirty="0"/>
            </a:p>
          </p:txBody>
        </p:sp>
        <p:sp>
          <p:nvSpPr>
            <p:cNvPr id="10" name="Shape 6"/>
            <p:cNvSpPr/>
            <p:nvPr/>
          </p:nvSpPr>
          <p:spPr>
            <a:xfrm>
              <a:off x="5943600" y="5212080"/>
              <a:ext cx="566928" cy="566928"/>
            </a:xfrm>
            <a:prstGeom prst="roundRect">
              <a:avLst>
                <a:gd name="adj" fmla="val 16129"/>
              </a:avLst>
            </a:prstGeom>
            <a:solidFill>
              <a:srgbClr val="0A367B"/>
            </a:solidFill>
            <a:ln/>
          </p:spPr>
          <p:txBody>
            <a:bodyPr/>
            <a:lstStyle/>
            <a:p>
              <a:endParaRPr lang="en-US"/>
            </a:p>
          </p:txBody>
        </p:sp>
        <p:pic>
          <p:nvPicPr>
            <p:cNvPr id="11" name="Image 2" descr="assets/icons/mail_FFFFFF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079663" y="5348143"/>
              <a:ext cx="294803" cy="294803"/>
            </a:xfrm>
            <a:prstGeom prst="rect">
              <a:avLst/>
            </a:prstGeom>
          </p:spPr>
        </p:pic>
        <p:sp>
          <p:nvSpPr>
            <p:cNvPr id="12" name="Text 7"/>
            <p:cNvSpPr txBox="1"/>
            <p:nvPr/>
          </p:nvSpPr>
          <p:spPr>
            <a:xfrm>
              <a:off x="6720840" y="5193792"/>
              <a:ext cx="420624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89B7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Email</a:t>
              </a:r>
              <a:endParaRPr lang="en-US" sz="1300" dirty="0"/>
            </a:p>
          </p:txBody>
        </p:sp>
        <p:sp>
          <p:nvSpPr>
            <p:cNvPr id="13" name="Text 8"/>
            <p:cNvSpPr txBox="1"/>
            <p:nvPr/>
          </p:nvSpPr>
          <p:spPr>
            <a:xfrm>
              <a:off x="6720840" y="5486400"/>
              <a:ext cx="420624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johnfrancis04@gmail.com</a:t>
              </a:r>
              <a:endParaRPr lang="en-US" sz="1400" dirty="0"/>
            </a:p>
          </p:txBody>
        </p:sp>
        <p:pic>
          <p:nvPicPr>
            <p:cNvPr id="25" name="Picture 24" descr="Transparent Linkedin Logo PNGs for Free Download">
              <a:extLst>
                <a:ext uri="{FF2B5EF4-FFF2-40B4-BE49-F238E27FC236}">
                  <a16:creationId xmlns:a16="http://schemas.microsoft.com/office/drawing/2014/main" id="{D1BAFC51-2958-93EE-D8F4-83DF77C7FD8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2960" y="5141155"/>
              <a:ext cx="733083" cy="733083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</TotalTime>
  <Words>2615</Words>
  <Application>Microsoft Macintosh PowerPoint</Application>
  <PresentationFormat>Custom</PresentationFormat>
  <Paragraphs>484</Paragraphs>
  <Slides>18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Handled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Handled — Pitch Deck</dc:title>
  <dc:subject>PptxGenJS Presentation</dc:subject>
  <dc:creator>John Francis</dc:creator>
  <cp:lastModifiedBy>John Francis</cp:lastModifiedBy>
  <cp:revision>19</cp:revision>
  <dcterms:created xsi:type="dcterms:W3CDTF">2026-10-08T17:51:35Z</dcterms:created>
  <dcterms:modified xsi:type="dcterms:W3CDTF">2026-10-09T00:00:54Z</dcterms:modified>
</cp:coreProperties>
</file>