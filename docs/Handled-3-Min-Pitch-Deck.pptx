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61" r:id="rId5"/>
    <p:sldId id="271" r:id="rId6"/>
    <p:sldId id="274" r:id="rId7"/>
    <p:sldId id="265" r:id="rId8"/>
    <p:sldId id="266" r:id="rId9"/>
    <p:sldId id="268" r:id="rId10"/>
    <p:sldId id="269" r:id="rId11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5A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304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120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9576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3963B-F055-0C7D-4316-052D4CD84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0A6FF3-FF9B-F4F1-1141-C195E953E9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0A7560-829F-FDEA-BC6F-C7DC841F89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B3FB8D-A08B-C5F8-8E49-4196157C24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6252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AC82F-3AEE-C513-9BF6-898A9CF1A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F342CA-EA75-B2CC-21D1-8CBE817D3D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624637-4BAC-3AE1-6F68-9853A110FA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F0D415-73D2-A47D-BC92-F71D441D36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466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14.png"/><Relationship Id="rId5" Type="http://schemas.openxmlformats.org/officeDocument/2006/relationships/image" Target="../media/image9.png"/><Relationship Id="rId10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18.png"/><Relationship Id="rId4" Type="http://schemas.openxmlformats.org/officeDocument/2006/relationships/image" Target="../media/image27.png"/><Relationship Id="rId9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11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731520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481328" y="76809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2697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89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OFFICE MANAGER  ·  PRODUCT CAPSTONE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063240"/>
            <a:ext cx="8595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office manager for home &amp; local service businesses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5257800"/>
            <a:ext cx="8138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B6C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 answers every call, books the job into your field-service schedule, and follows up — so owner-operators stop losing revenue to the competitor who picked up first.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70866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Francis</a:t>
            </a:r>
            <a:r>
              <a:rPr lang="en-US" sz="1300" dirty="0">
                <a:solidFill>
                  <a:srgbClr val="89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Designed, built &amp; deployed — website · customer app · test harness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829800" y="2743200"/>
            <a:ext cx="3977640" cy="3566160"/>
          </a:xfrm>
          <a:prstGeom prst="roundRect">
            <a:avLst>
              <a:gd name="adj" fmla="val 3077"/>
            </a:avLst>
          </a:prstGeom>
          <a:solidFill>
            <a:srgbClr val="0A36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0104120" y="306324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115A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assets/icons/phone-call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2128" y="3221248"/>
            <a:ext cx="342351" cy="34235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927080" y="308152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every call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0927080" y="341071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24/7, natural conversation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10104120" y="4133088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115A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assets/icons/calendar-che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2128" y="4291096"/>
            <a:ext cx="342351" cy="342351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927080" y="415137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Books into your FSM (Soon)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10927080" y="4480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Jobber · Housecall Pro · ServiceTitan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10104120" y="5202936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115A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assets/icons/briefcas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2128" y="5360944"/>
            <a:ext cx="342351" cy="342351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927080" y="522122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Office-manager scope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10927080" y="555040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Text-back, follow-up, triage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188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5ACB"/>
                </a:solidFill>
                <a:latin typeface="Arial"/>
              </a:rPr>
              <a:t>THE PROBLEM · THE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2070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70A0E"/>
                </a:solidFill>
                <a:latin typeface="Arial"/>
              </a:rPr>
              <a:t>Every missed call is a lost job — in a $600B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89888"/>
            <a:ext cx="1261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A4C4F"/>
                </a:solidFill>
                <a:latin typeface="Arial"/>
              </a:rPr>
              <a:t>Owner-operators are in the field, not by the phone — and these buyers already pay for software.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4832" y="493776"/>
            <a:ext cx="347472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78181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F9193"/>
                </a:solidFill>
                <a:latin typeface="Arial"/>
              </a:rPr>
              <a:t>handled.ai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78640" y="78181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F9193"/>
                </a:solidFill>
                <a:latin typeface="Arial"/>
              </a:rPr>
              <a:t>02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83080"/>
            <a:ext cx="4175760" cy="1371600"/>
          </a:xfrm>
          <a:prstGeom prst="roundRect">
            <a:avLst>
              <a:gd name="adj" fmla="val 6666"/>
            </a:avLst>
          </a:prstGeom>
          <a:solidFill>
            <a:srgbClr val="FAFAFA"/>
          </a:solidFill>
          <a:ln w="12700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020824"/>
            <a:ext cx="399287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115ACB"/>
                </a:solidFill>
                <a:latin typeface="Arial"/>
              </a:rPr>
              <a:t>62%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34056"/>
            <a:ext cx="38099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070A0E"/>
                </a:solidFill>
                <a:latin typeface="Arial"/>
              </a:rPr>
              <a:t>of missed callers call a competitor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27320" y="1783080"/>
            <a:ext cx="4175760" cy="1371600"/>
          </a:xfrm>
          <a:prstGeom prst="roundRect">
            <a:avLst>
              <a:gd name="adj" fmla="val 6666"/>
            </a:avLst>
          </a:prstGeom>
          <a:solidFill>
            <a:srgbClr val="FAFAFA"/>
          </a:solidFill>
          <a:ln w="12700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18760" y="2020824"/>
            <a:ext cx="399287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115ACB"/>
                </a:solidFill>
                <a:latin typeface="Arial"/>
              </a:rPr>
              <a:t>85%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10200" y="2734056"/>
            <a:ext cx="38099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070A0E"/>
                </a:solidFill>
                <a:latin typeface="Arial"/>
              </a:rPr>
              <a:t>of those never call back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31680" y="1783080"/>
            <a:ext cx="4175760" cy="1371600"/>
          </a:xfrm>
          <a:prstGeom prst="roundRect">
            <a:avLst>
              <a:gd name="adj" fmla="val 6666"/>
            </a:avLst>
          </a:prstGeom>
          <a:solidFill>
            <a:srgbClr val="FAFAFA"/>
          </a:solidFill>
          <a:ln w="12700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23120" y="2020824"/>
            <a:ext cx="399287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D13438"/>
                </a:solidFill>
                <a:latin typeface="Arial"/>
              </a:rPr>
              <a:t>~$1,200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14560" y="2734056"/>
            <a:ext cx="38099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070A0E"/>
                </a:solidFill>
                <a:latin typeface="Arial"/>
              </a:rPr>
              <a:t>average value of one missed call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383280"/>
            <a:ext cx="4084319" cy="2880360"/>
          </a:xfrm>
          <a:prstGeom prst="roundRect">
            <a:avLst>
              <a:gd name="adj" fmla="val 3174"/>
            </a:avLst>
          </a:prstGeom>
          <a:solidFill>
            <a:srgbClr val="FFFFFF"/>
          </a:solidFill>
          <a:ln w="12700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143000" y="3703320"/>
            <a:ext cx="658368" cy="658368"/>
          </a:xfrm>
          <a:prstGeom prst="roundRect">
            <a:avLst>
              <a:gd name="adj" fmla="val 16666"/>
            </a:avLst>
          </a:prstGeom>
          <a:solidFill>
            <a:srgbClr val="E7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1008" y="3861328"/>
            <a:ext cx="342351" cy="34235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965960" y="3822191"/>
            <a:ext cx="27127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70A0E"/>
                </a:solidFill>
                <a:latin typeface="Arial"/>
              </a:rPr>
              <a:t>The opportunity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617720"/>
            <a:ext cx="3444239" cy="1417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A4C4F"/>
                </a:solidFill>
                <a:latin typeface="Arial"/>
              </a:rPr>
              <a:t>~2.5M US home-service businesses. The owner can't answer — and can't justify a $42–62K/yr office manager. Handled is the affordable middle.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73040" y="3383280"/>
            <a:ext cx="4084319" cy="2880360"/>
          </a:xfrm>
          <a:prstGeom prst="roundRect">
            <a:avLst>
              <a:gd name="adj" fmla="val 3174"/>
            </a:avLst>
          </a:prstGeom>
          <a:solidFill>
            <a:srgbClr val="FFFFFF"/>
          </a:solidFill>
          <a:ln w="12700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593080" y="3703320"/>
            <a:ext cx="658368" cy="658368"/>
          </a:xfrm>
          <a:prstGeom prst="roundRect">
            <a:avLst>
              <a:gd name="adj" fmla="val 16666"/>
            </a:avLst>
          </a:prstGeom>
          <a:solidFill>
            <a:srgbClr val="E7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1088" y="3861328"/>
            <a:ext cx="342351" cy="34235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416040" y="3822191"/>
            <a:ext cx="27127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70A0E"/>
                </a:solidFill>
                <a:latin typeface="Arial"/>
              </a:rPr>
              <a:t>Why now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93080" y="4617720"/>
            <a:ext cx="3444239" cy="1417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A4C4F"/>
                </a:solidFill>
                <a:latin typeface="Arial"/>
              </a:rPr>
              <a:t>FSM software is ~$3.1B and growing ~12%/yr; the AI-voice slice is growing 25–40%/yr. Incumbents own voice quality — not workflow depth.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23120" y="3383280"/>
            <a:ext cx="4084319" cy="2880360"/>
          </a:xfrm>
          <a:prstGeom prst="roundRect">
            <a:avLst>
              <a:gd name="adj" fmla="val 3174"/>
            </a:avLst>
          </a:prstGeom>
          <a:solidFill>
            <a:srgbClr val="FFFFFF"/>
          </a:solidFill>
          <a:ln w="12700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043160" y="3703320"/>
            <a:ext cx="658368" cy="658368"/>
          </a:xfrm>
          <a:prstGeom prst="roundRect">
            <a:avLst>
              <a:gd name="adj" fmla="val 16666"/>
            </a:avLst>
          </a:prstGeom>
          <a:solidFill>
            <a:srgbClr val="E7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1168" y="3861328"/>
            <a:ext cx="342351" cy="34235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866120" y="3822191"/>
            <a:ext cx="27127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70A0E"/>
                </a:solidFill>
                <a:latin typeface="Arial"/>
              </a:rPr>
              <a:t>Market size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43160" y="4617720"/>
            <a:ext cx="3444239" cy="1417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A4C4F"/>
                </a:solidFill>
                <a:latin typeface="Arial"/>
              </a:rPr>
              <a:t>TAM ~$600B industry (~$5–10B software). SAM ~$3B (~1M shops with call volume). SOM $15–60M ARR over three years.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6492240"/>
            <a:ext cx="12984480" cy="868680"/>
          </a:xfrm>
          <a:prstGeom prst="roundRect">
            <a:avLst>
              <a:gd name="adj" fmla="val 12631"/>
            </a:avLst>
          </a:prstGeom>
          <a:solidFill>
            <a:srgbClr val="E7EFFC"/>
          </a:solidFill>
          <a:ln w="12700">
            <a:solidFill>
              <a:srgbClr val="B6C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143000" y="6693407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15A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2728" y="6803136"/>
            <a:ext cx="237744" cy="23774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783080" y="6492240"/>
            <a:ext cx="117500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70A0E"/>
                </a:solidFill>
                <a:latin typeface="Arial"/>
              </a:rPr>
              <a:t>Miss ten calls a week at ~$1,200 each </a:t>
            </a:r>
            <a:r>
              <a:rPr sz="1400" b="0" i="0">
                <a:solidFill>
                  <a:srgbClr val="4A4C4F"/>
                </a:solidFill>
                <a:latin typeface="Arial"/>
              </a:rPr>
              <a:t>= six figures a year walking to the competitor who picked up first.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188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5ACB"/>
                </a:solidFill>
                <a:latin typeface="Arial"/>
              </a:rPr>
              <a:t>THE SOLUTION · THE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2070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70A0E"/>
                </a:solidFill>
                <a:latin typeface="Arial"/>
              </a:rPr>
              <a:t>How it works — and why it 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89888"/>
            <a:ext cx="1261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A4C4F"/>
                </a:solidFill>
                <a:latin typeface="Arial"/>
              </a:rPr>
              <a:t>Open-ended request in, a real booked job out — plus four things competitors don't do.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4832" y="493776"/>
            <a:ext cx="347472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78181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F9193"/>
                </a:solidFill>
                <a:latin typeface="Arial"/>
              </a:rPr>
              <a:t>handled.ai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78640" y="78181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F9193"/>
                </a:solidFill>
                <a:latin typeface="Arial"/>
              </a:rPr>
              <a:t>03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83080"/>
            <a:ext cx="1828800" cy="1645920"/>
          </a:xfrm>
          <a:prstGeom prst="roundRect">
            <a:avLst>
              <a:gd name="adj" fmla="val 5555"/>
            </a:avLst>
          </a:prstGeom>
          <a:solidFill>
            <a:srgbClr val="FAFAFA"/>
          </a:solidFill>
          <a:ln w="12700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426463" y="2020824"/>
            <a:ext cx="621792" cy="621792"/>
          </a:xfrm>
          <a:prstGeom prst="roundRect">
            <a:avLst>
              <a:gd name="adj" fmla="val 17647"/>
            </a:avLst>
          </a:prstGeom>
          <a:solidFill>
            <a:srgbClr val="115A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5694" y="2170054"/>
            <a:ext cx="323331" cy="3233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0976" y="1911095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F9193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70A0E"/>
                </a:solidFill>
                <a:latin typeface="Arial"/>
              </a:rPr>
              <a:t>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8152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4A4C4F"/>
                </a:solidFill>
                <a:latin typeface="Arial"/>
              </a:rPr>
              <a:t>24/7, no tree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606040"/>
            <a:ext cx="402335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8F9193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54096" y="1783080"/>
            <a:ext cx="1828800" cy="1645920"/>
          </a:xfrm>
          <a:prstGeom prst="roundRect">
            <a:avLst>
              <a:gd name="adj" fmla="val 5555"/>
            </a:avLst>
          </a:prstGeom>
          <a:solidFill>
            <a:srgbClr val="FAFAFA"/>
          </a:solidFill>
          <a:ln w="12700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657600" y="2020824"/>
            <a:ext cx="621792" cy="621792"/>
          </a:xfrm>
          <a:prstGeom prst="roundRect">
            <a:avLst>
              <a:gd name="adj" fmla="val 17647"/>
            </a:avLst>
          </a:prstGeom>
          <a:solidFill>
            <a:srgbClr val="115A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6830" y="2170054"/>
            <a:ext cx="323331" cy="32333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182112" y="1911095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F9193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45536" y="274320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70A0E"/>
                </a:solidFill>
                <a:latin typeface="Arial"/>
              </a:rPr>
              <a:t>Understand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45536" y="308152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4A4C4F"/>
                </a:solidFill>
                <a:latin typeface="Arial"/>
              </a:rPr>
              <a:t>intent + urgency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2896" y="2606040"/>
            <a:ext cx="402335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8F9193"/>
                </a:solidFill>
                <a:latin typeface="Arial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85232" y="1783080"/>
            <a:ext cx="1828800" cy="1645920"/>
          </a:xfrm>
          <a:prstGeom prst="roundRect">
            <a:avLst>
              <a:gd name="adj" fmla="val 5555"/>
            </a:avLst>
          </a:prstGeom>
          <a:solidFill>
            <a:srgbClr val="FAFAFA"/>
          </a:solidFill>
          <a:ln w="12700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888736" y="2020824"/>
            <a:ext cx="621792" cy="621792"/>
          </a:xfrm>
          <a:prstGeom prst="roundRect">
            <a:avLst>
              <a:gd name="adj" fmla="val 17647"/>
            </a:avLst>
          </a:prstGeom>
          <a:solidFill>
            <a:srgbClr val="115A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7966" y="2170054"/>
            <a:ext cx="323331" cy="32333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413248" y="1911095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F9193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76672" y="274320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70A0E"/>
                </a:solidFill>
                <a:latin typeface="Arial"/>
              </a:rPr>
              <a:t>Check slot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76672" y="308152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4A4C4F"/>
                </a:solidFill>
                <a:latin typeface="Arial"/>
              </a:rPr>
              <a:t>live FSM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4032" y="2606040"/>
            <a:ext cx="402335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8F9193"/>
                </a:solidFill>
                <a:latin typeface="Arial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16368" y="1783080"/>
            <a:ext cx="1828800" cy="1645920"/>
          </a:xfrm>
          <a:prstGeom prst="roundRect">
            <a:avLst>
              <a:gd name="adj" fmla="val 5555"/>
            </a:avLst>
          </a:prstGeom>
          <a:solidFill>
            <a:srgbClr val="FAFAFA"/>
          </a:solidFill>
          <a:ln w="12700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119872" y="2020824"/>
            <a:ext cx="621792" cy="621792"/>
          </a:xfrm>
          <a:prstGeom prst="roundRect">
            <a:avLst>
              <a:gd name="adj" fmla="val 17647"/>
            </a:avLst>
          </a:prstGeom>
          <a:solidFill>
            <a:srgbClr val="115A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9102" y="2170054"/>
            <a:ext cx="323331" cy="32333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644384" y="1911095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F9193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07808" y="274320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70A0E"/>
                </a:solidFill>
                <a:latin typeface="Arial"/>
              </a:rPr>
              <a:t>Book job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07808" y="308152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4A4C4F"/>
                </a:solidFill>
                <a:latin typeface="Arial"/>
              </a:rPr>
              <a:t>into your FSM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45168" y="2606040"/>
            <a:ext cx="402335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8F9193"/>
                </a:solidFill>
                <a:latin typeface="Arial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47504" y="1783080"/>
            <a:ext cx="1828800" cy="1645920"/>
          </a:xfrm>
          <a:prstGeom prst="roundRect">
            <a:avLst>
              <a:gd name="adj" fmla="val 5555"/>
            </a:avLst>
          </a:prstGeom>
          <a:solidFill>
            <a:srgbClr val="FAFAFA"/>
          </a:solidFill>
          <a:ln w="12700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0351008" y="2020824"/>
            <a:ext cx="621792" cy="621792"/>
          </a:xfrm>
          <a:prstGeom prst="roundRect">
            <a:avLst>
              <a:gd name="adj" fmla="val 17647"/>
            </a:avLst>
          </a:prstGeom>
          <a:solidFill>
            <a:srgbClr val="115A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00238" y="2170054"/>
            <a:ext cx="323331" cy="323331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875520" y="1911095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F9193"/>
                </a:solidFill>
                <a:latin typeface="Arial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38944" y="274320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70A0E"/>
                </a:solidFill>
                <a:latin typeface="Arial"/>
              </a:rPr>
              <a:t>Confirm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38944" y="308152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4A4C4F"/>
                </a:solidFill>
                <a:latin typeface="Arial"/>
              </a:rPr>
              <a:t>verbatim SMS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576304" y="2606040"/>
            <a:ext cx="402335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8F9193"/>
                </a:solidFill>
                <a:latin typeface="Arial"/>
              </a:rP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978640" y="1783080"/>
            <a:ext cx="1828800" cy="1645920"/>
          </a:xfrm>
          <a:prstGeom prst="roundRect">
            <a:avLst>
              <a:gd name="adj" fmla="val 5555"/>
            </a:avLst>
          </a:prstGeom>
          <a:solidFill>
            <a:srgbClr val="FAFAFA"/>
          </a:solidFill>
          <a:ln w="12700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12582144" y="2020824"/>
            <a:ext cx="621792" cy="621792"/>
          </a:xfrm>
          <a:prstGeom prst="roundRect">
            <a:avLst>
              <a:gd name="adj" fmla="val 17647"/>
            </a:avLst>
          </a:prstGeom>
          <a:solidFill>
            <a:srgbClr val="115A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31374" y="2170054"/>
            <a:ext cx="323331" cy="323331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2106656" y="1911095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F9193"/>
                </a:solidFill>
                <a:latin typeface="Arial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070080" y="274320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70A0E"/>
                </a:solidFill>
                <a:latin typeface="Arial"/>
              </a:rPr>
              <a:t>Notify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070080" y="308152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4A4C4F"/>
                </a:solidFill>
                <a:latin typeface="Arial"/>
              </a:rPr>
              <a:t>owner summary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2960" y="3886200"/>
            <a:ext cx="3006089" cy="2606040"/>
          </a:xfrm>
          <a:prstGeom prst="roundRect">
            <a:avLst>
              <a:gd name="adj" fmla="val 3508"/>
            </a:avLst>
          </a:prstGeom>
          <a:solidFill>
            <a:srgbClr val="FFFFFF"/>
          </a:solidFill>
          <a:ln w="12700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1097280" y="4178808"/>
            <a:ext cx="603504" cy="603504"/>
          </a:xfrm>
          <a:prstGeom prst="roundRect">
            <a:avLst>
              <a:gd name="adj" fmla="val 18181"/>
            </a:avLst>
          </a:prstGeom>
          <a:solidFill>
            <a:srgbClr val="E7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42120" y="4323648"/>
            <a:ext cx="313822" cy="313822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097280" y="4892040"/>
            <a:ext cx="245744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450" b="1" i="0">
                <a:solidFill>
                  <a:srgbClr val="070A0E"/>
                </a:solidFill>
                <a:latin typeface="Arial"/>
              </a:rPr>
              <a:t>Dispatch-grade FSM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7280" y="5486400"/>
            <a:ext cx="24574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A4C4F"/>
                </a:solidFill>
                <a:latin typeface="Arial"/>
              </a:rPr>
              <a:t>Books the real job into Jobber / HCP / ServiceTitan — not a calendar event.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149089" y="3886200"/>
            <a:ext cx="3006089" cy="2606040"/>
          </a:xfrm>
          <a:prstGeom prst="roundRect">
            <a:avLst>
              <a:gd name="adj" fmla="val 3508"/>
            </a:avLst>
          </a:prstGeom>
          <a:solidFill>
            <a:srgbClr val="FFFFFF"/>
          </a:solidFill>
          <a:ln w="12700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4423409" y="4178808"/>
            <a:ext cx="603504" cy="603504"/>
          </a:xfrm>
          <a:prstGeom prst="roundRect">
            <a:avLst>
              <a:gd name="adj" fmla="val 18181"/>
            </a:avLst>
          </a:prstGeom>
          <a:solidFill>
            <a:srgbClr val="E7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68250" y="4323648"/>
            <a:ext cx="313822" cy="313822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4423409" y="4892040"/>
            <a:ext cx="245744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450" b="1" i="0">
                <a:solidFill>
                  <a:srgbClr val="070A0E"/>
                </a:solidFill>
                <a:latin typeface="Arial"/>
              </a:rPr>
              <a:t>Office-manager scope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23409" y="5486400"/>
            <a:ext cx="24574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A4C4F"/>
                </a:solidFill>
                <a:latin typeface="Arial"/>
              </a:rPr>
              <a:t>Text-back, quote follow-up, reminders, reviews — tied to the job.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475219" y="3886200"/>
            <a:ext cx="3006089" cy="2606040"/>
          </a:xfrm>
          <a:prstGeom prst="roundRect">
            <a:avLst>
              <a:gd name="adj" fmla="val 3508"/>
            </a:avLst>
          </a:prstGeom>
          <a:solidFill>
            <a:srgbClr val="FFFFFF"/>
          </a:solidFill>
          <a:ln w="12700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7749540" y="4178808"/>
            <a:ext cx="603504" cy="603504"/>
          </a:xfrm>
          <a:prstGeom prst="roundRect">
            <a:avLst>
              <a:gd name="adj" fmla="val 18181"/>
            </a:avLst>
          </a:prstGeom>
          <a:solidFill>
            <a:srgbClr val="E7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94380" y="4323648"/>
            <a:ext cx="313822" cy="313822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7749540" y="4892040"/>
            <a:ext cx="245744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450" b="1" i="0">
                <a:solidFill>
                  <a:srgbClr val="070A0E"/>
                </a:solidFill>
                <a:latin typeface="Arial"/>
              </a:rPr>
              <a:t>Emergency triage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49540" y="5486400"/>
            <a:ext cx="24574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A4C4F"/>
                </a:solidFill>
                <a:latin typeface="Arial"/>
              </a:rPr>
              <a:t>Knows a burst pipe from a drip and escalates the real ones.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801350" y="3886200"/>
            <a:ext cx="3006089" cy="2606040"/>
          </a:xfrm>
          <a:prstGeom prst="roundRect">
            <a:avLst>
              <a:gd name="adj" fmla="val 3508"/>
            </a:avLst>
          </a:prstGeom>
          <a:solidFill>
            <a:srgbClr val="FFFFFF"/>
          </a:solidFill>
          <a:ln w="12700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11075670" y="4178808"/>
            <a:ext cx="603504" cy="603504"/>
          </a:xfrm>
          <a:prstGeom prst="roundRect">
            <a:avLst>
              <a:gd name="adj" fmla="val 18181"/>
            </a:avLst>
          </a:prstGeom>
          <a:solidFill>
            <a:srgbClr val="E7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220510" y="4323648"/>
            <a:ext cx="313822" cy="313822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1075670" y="4892040"/>
            <a:ext cx="245744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450" b="1" i="0">
                <a:solidFill>
                  <a:srgbClr val="070A0E"/>
                </a:solidFill>
                <a:latin typeface="Arial"/>
              </a:rPr>
              <a:t>Trust &amp; pricing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075670" y="5486400"/>
            <a:ext cx="245744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A4C4F"/>
                </a:solidFill>
                <a:latin typeface="Arial"/>
              </a:rPr>
              <a:t>Flat price, hard cap, no charge for spam or hangups.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2960" y="6812280"/>
            <a:ext cx="1298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70A0E"/>
                </a:solidFill>
                <a:latin typeface="Arial"/>
              </a:rPr>
              <a:t>Grounded in your data</a:t>
            </a:r>
            <a:r>
              <a:rPr sz="1250" b="0" i="0">
                <a:solidFill>
                  <a:srgbClr val="4A4C4F"/>
                </a:solidFill>
                <a:latin typeface="Arial"/>
              </a:rPr>
              <a:t>  ·  every turn logged &amp; explainable  ·  verbatim confirmation before any booking.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12064"/>
            <a:ext cx="1170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1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BUILT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170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apps, one agent</a:t>
            </a:r>
            <a:endParaRPr lang="en-US" sz="2900" dirty="0"/>
          </a:p>
        </p:txBody>
      </p:sp>
      <p:pic>
        <p:nvPicPr>
          <p:cNvPr id="4" name="Image 0" descr="assets/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4832" y="493776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1463040"/>
            <a:ext cx="1261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through a stage-gated workflow — each app independent, all pointed at a single n8n webhook.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2103120"/>
            <a:ext cx="4084320" cy="416052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assets/shot-websit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2377440"/>
            <a:ext cx="3535680" cy="162763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097280" y="2377440"/>
            <a:ext cx="3535680" cy="1627632"/>
          </a:xfrm>
          <a:prstGeom prst="rect">
            <a:avLst/>
          </a:prstGeom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 txBox="1"/>
          <p:nvPr/>
        </p:nvSpPr>
        <p:spPr>
          <a:xfrm>
            <a:off x="1143000" y="4114800"/>
            <a:ext cx="344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website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4498848"/>
            <a:ext cx="344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14 · Netlify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4828032"/>
            <a:ext cx="344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Static-first public site telling the Handled story, with one lead-capture endpoint.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718560" y="239572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7F6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 txBox="1"/>
          <p:nvPr/>
        </p:nvSpPr>
        <p:spPr>
          <a:xfrm>
            <a:off x="3718560" y="2400300"/>
            <a:ext cx="8686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3A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273040" y="2103120"/>
            <a:ext cx="4084320" cy="416052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5593080" y="242316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assets/icons/gauge_115AC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8645" y="2598725"/>
            <a:ext cx="380390" cy="38039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168640" y="256032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7F6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 txBox="1"/>
          <p:nvPr/>
        </p:nvSpPr>
        <p:spPr>
          <a:xfrm>
            <a:off x="8168640" y="2564892"/>
            <a:ext cx="8686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3A1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950" dirty="0"/>
          </a:p>
        </p:txBody>
      </p:sp>
      <p:sp>
        <p:nvSpPr>
          <p:cNvPr id="19" name="Text 14"/>
          <p:cNvSpPr txBox="1"/>
          <p:nvPr/>
        </p:nvSpPr>
        <p:spPr>
          <a:xfrm>
            <a:off x="5593080" y="3337560"/>
            <a:ext cx="344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experience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5593080" y="3730752"/>
            <a:ext cx="344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n8n · Supabase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5593080" y="4114800"/>
            <a:ext cx="3444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dashboard over a 17-table Supabase schema, plus the multi-agent n8n backend. Inbox, bookings, conversion &amp; revenue.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9723120" y="2103120"/>
            <a:ext cx="4084320" cy="416052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10043160" y="242316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assets/icons/message-square_115AC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8725" y="2598725"/>
            <a:ext cx="380390" cy="38039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12618720" y="256032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 txBox="1"/>
          <p:nvPr/>
        </p:nvSpPr>
        <p:spPr>
          <a:xfrm>
            <a:off x="12618720" y="2564892"/>
            <a:ext cx="8686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950" dirty="0"/>
          </a:p>
        </p:txBody>
      </p:sp>
      <p:sp>
        <p:nvSpPr>
          <p:cNvPr id="27" name="Text 21"/>
          <p:cNvSpPr txBox="1"/>
          <p:nvPr/>
        </p:nvSpPr>
        <p:spPr>
          <a:xfrm>
            <a:off x="10043160" y="3337560"/>
            <a:ext cx="344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harness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10043160" y="3730752"/>
            <a:ext cx="344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SMS-style chat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10043160" y="4114800"/>
            <a:ext cx="3444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Impersonate ~30 seeded Acme customers, text as them, and watch the AI reply — the way the flow gets exercised.</a:t>
            </a:r>
            <a:endParaRPr lang="en-US" sz="1250" dirty="0"/>
          </a:p>
        </p:txBody>
      </p:sp>
      <p:sp>
        <p:nvSpPr>
          <p:cNvPr id="30" name="Text 24"/>
          <p:cNvSpPr txBox="1"/>
          <p:nvPr/>
        </p:nvSpPr>
        <p:spPr>
          <a:xfrm>
            <a:off x="822960" y="6492240"/>
            <a:ext cx="1261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front door:  </a:t>
            </a:r>
            <a:r>
              <a:rPr lang="en-US" sz="13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website, the dashboard, and the test harness all POST to the same </a:t>
            </a:r>
            <a:r>
              <a:rPr lang="en-US" sz="1300" dirty="0">
                <a:solidFill>
                  <a:srgbClr val="115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/webhook/handled/message</a:t>
            </a:r>
            <a:r>
              <a:rPr lang="en-US" sz="13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822960" y="7818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handled.ai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11978640" y="7818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49951-5AD9-71EB-30F0-7A38E8FCE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1188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15ACB"/>
                </a:solidFill>
                <a:latin typeface="Arial"/>
              </a:rPr>
              <a:t>ARCHITECTURE · N8N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2070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70A0E"/>
                </a:solidFill>
                <a:latin typeface="Arial"/>
              </a:rPr>
              <a:t>The agentic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89888"/>
            <a:ext cx="1261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A4C4F"/>
                </a:solidFill>
                <a:latin typeface="Arial"/>
              </a:rPr>
              <a:t>One webhook, cheap classifiers first, then the right specialist.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4832" y="493776"/>
            <a:ext cx="347472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78181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F9193"/>
                </a:solidFill>
                <a:latin typeface="Arial"/>
              </a:rPr>
              <a:t>handled.ai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78640" y="78181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F9193"/>
                </a:solidFill>
                <a:latin typeface="Arial"/>
              </a:rPr>
              <a:t>05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65960"/>
            <a:ext cx="2903220" cy="1371600"/>
          </a:xfrm>
          <a:prstGeom prst="roundRect">
            <a:avLst>
              <a:gd name="adj" fmla="val 6666"/>
            </a:avLst>
          </a:prstGeom>
          <a:solidFill>
            <a:srgbClr val="FAFAFA"/>
          </a:solidFill>
          <a:ln w="12700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78992" y="2240279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8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5054" y="2376342"/>
            <a:ext cx="294802" cy="2948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83080" y="2276856"/>
            <a:ext cx="18059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70A0E"/>
                </a:solidFill>
                <a:latin typeface="Arial"/>
              </a:rPr>
              <a:t>Webhook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679191"/>
            <a:ext cx="18059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4C4F"/>
                </a:solidFill>
                <a:latin typeface="Arial"/>
              </a:rPr>
              <a:t>inbound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6180" y="2651760"/>
            <a:ext cx="4572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8F9193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83380" y="1965960"/>
            <a:ext cx="2903220" cy="1371600"/>
          </a:xfrm>
          <a:prstGeom prst="roundRect">
            <a:avLst>
              <a:gd name="adj" fmla="val 6666"/>
            </a:avLst>
          </a:prstGeom>
          <a:solidFill>
            <a:srgbClr val="FAFAFA"/>
          </a:solidFill>
          <a:ln w="12700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439412" y="2240279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82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5474" y="2376342"/>
            <a:ext cx="294802" cy="29480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143500" y="2276856"/>
            <a:ext cx="18059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70A0E"/>
                </a:solidFill>
                <a:latin typeface="Arial"/>
              </a:rPr>
              <a:t>Context Loader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3500" y="2679191"/>
            <a:ext cx="18059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4C4F"/>
                </a:solidFill>
                <a:latin typeface="Arial"/>
              </a:rPr>
              <a:t>Supabase · no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651760"/>
            <a:ext cx="4572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8F9193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43800" y="1965960"/>
            <a:ext cx="2903220" cy="1371600"/>
          </a:xfrm>
          <a:prstGeom prst="roundRect">
            <a:avLst>
              <a:gd name="adj" fmla="val 6666"/>
            </a:avLst>
          </a:prstGeom>
          <a:solidFill>
            <a:srgbClr val="E7EFFC"/>
          </a:solidFill>
          <a:ln w="12700">
            <a:solidFill>
              <a:srgbClr val="B6C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799831" y="2240279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15A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5894" y="2376342"/>
            <a:ext cx="294802" cy="29480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503920" y="2276856"/>
            <a:ext cx="18059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70A0E"/>
                </a:solidFill>
                <a:latin typeface="Arial"/>
              </a:rPr>
              <a:t>Guard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679191"/>
            <a:ext cx="18059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4C4F"/>
                </a:solidFill>
                <a:latin typeface="Arial"/>
              </a:rPr>
              <a:t>Haiku · spam / injection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47020" y="2651760"/>
            <a:ext cx="4572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8F9193"/>
                </a:solidFill>
                <a:latin typeface="Arial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04219" y="1965960"/>
            <a:ext cx="2903220" cy="1371600"/>
          </a:xfrm>
          <a:prstGeom prst="roundRect">
            <a:avLst>
              <a:gd name="adj" fmla="val 6666"/>
            </a:avLst>
          </a:prstGeom>
          <a:solidFill>
            <a:srgbClr val="E7EFFC"/>
          </a:solidFill>
          <a:ln w="12700">
            <a:solidFill>
              <a:srgbClr val="B6CF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1160251" y="2240279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15A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96314" y="2376342"/>
            <a:ext cx="294802" cy="29480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1864340" y="2276856"/>
            <a:ext cx="18059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70A0E"/>
                </a:solidFill>
                <a:latin typeface="Arial"/>
              </a:rPr>
              <a:t>Router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64340" y="2679191"/>
            <a:ext cx="18059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4C4F"/>
                </a:solidFill>
                <a:latin typeface="Arial"/>
              </a:rPr>
              <a:t>Haiku · 1 of 7 intents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3401568"/>
            <a:ext cx="4572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8F9193"/>
                </a:solidFill>
                <a:latin typeface="Arial"/>
              </a:rPr>
              <a:t>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3675887"/>
            <a:ext cx="1298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1">
                <a:solidFill>
                  <a:srgbClr val="6600CC"/>
                </a:solidFill>
                <a:latin typeface="Arial"/>
              </a:rPr>
              <a:t>Router sends the turn to exactly one specialist — all six share one Claude Sonnet node (temp 0.3)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4069080"/>
            <a:ext cx="4084319" cy="13716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3771686" y="4251960"/>
            <a:ext cx="952713" cy="274320"/>
          </a:xfrm>
          <a:prstGeom prst="roundRect">
            <a:avLst>
              <a:gd name="adj" fmla="val 50000"/>
            </a:avLst>
          </a:prstGeom>
          <a:solidFill>
            <a:srgbClr val="F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6600CC"/>
                </a:solidFill>
                <a:latin typeface="Arial"/>
              </a:rPr>
              <a:t>Claude Sonnet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" y="4270248"/>
            <a:ext cx="271271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70A0E"/>
                </a:solidFill>
                <a:latin typeface="Arial"/>
              </a:rPr>
              <a:t>New-Booking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8992" y="4672584"/>
            <a:ext cx="892088" cy="256032"/>
          </a:xfrm>
          <a:prstGeom prst="roundRect">
            <a:avLst>
              <a:gd name="adj" fmla="val 50000"/>
            </a:avLst>
          </a:prstGeom>
          <a:solidFill>
            <a:srgbClr val="F0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intent: book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" y="5029200"/>
            <a:ext cx="362711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4C4F"/>
                </a:solidFill>
                <a:latin typeface="Arial"/>
              </a:rPr>
              <a:t>Schedules a new visit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273040" y="4069080"/>
            <a:ext cx="4084319" cy="13716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8221766" y="4251960"/>
            <a:ext cx="952713" cy="274320"/>
          </a:xfrm>
          <a:prstGeom prst="roundRect">
            <a:avLst>
              <a:gd name="adj" fmla="val 50000"/>
            </a:avLst>
          </a:prstGeom>
          <a:solidFill>
            <a:srgbClr val="F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6600CC"/>
                </a:solidFill>
                <a:latin typeface="Arial"/>
              </a:rPr>
              <a:t>Claude Sonnet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29072" y="4270248"/>
            <a:ext cx="271271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70A0E"/>
                </a:solidFill>
                <a:latin typeface="Arial"/>
              </a:rPr>
              <a:t>Reschedule-Cancel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529072" y="4672584"/>
            <a:ext cx="1801459" cy="256032"/>
          </a:xfrm>
          <a:prstGeom prst="roundRect">
            <a:avLst>
              <a:gd name="adj" fmla="val 50000"/>
            </a:avLst>
          </a:prstGeom>
          <a:solidFill>
            <a:srgbClr val="F0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intent: reschedule / cancel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29072" y="5029200"/>
            <a:ext cx="362711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4C4F"/>
                </a:solidFill>
                <a:latin typeface="Arial"/>
              </a:rPr>
              <a:t>Moves or cancels a job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723120" y="4069080"/>
            <a:ext cx="4084319" cy="13716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12671846" y="4251960"/>
            <a:ext cx="952713" cy="274320"/>
          </a:xfrm>
          <a:prstGeom prst="roundRect">
            <a:avLst>
              <a:gd name="adj" fmla="val 50000"/>
            </a:avLst>
          </a:prstGeom>
          <a:solidFill>
            <a:srgbClr val="F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6600CC"/>
                </a:solidFill>
                <a:latin typeface="Arial"/>
              </a:rPr>
              <a:t>Claude Sonnet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79151" y="4270248"/>
            <a:ext cx="271271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70A0E"/>
                </a:solidFill>
                <a:latin typeface="Arial"/>
              </a:rPr>
              <a:t>Emergency-Triage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979151" y="4672584"/>
            <a:ext cx="1195212" cy="256032"/>
          </a:xfrm>
          <a:prstGeom prst="roundRect">
            <a:avLst>
              <a:gd name="adj" fmla="val 50000"/>
            </a:avLst>
          </a:prstGeom>
          <a:solidFill>
            <a:srgbClr val="F0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intent: emergency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79151" y="5029200"/>
            <a:ext cx="362711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4C4F"/>
                </a:solidFill>
                <a:latin typeface="Arial"/>
              </a:rPr>
              <a:t>Advises, logs, escalates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2960" y="5550408"/>
            <a:ext cx="4084319" cy="13716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3771686" y="5733288"/>
            <a:ext cx="952713" cy="274320"/>
          </a:xfrm>
          <a:prstGeom prst="roundRect">
            <a:avLst>
              <a:gd name="adj" fmla="val 50000"/>
            </a:avLst>
          </a:prstGeom>
          <a:solidFill>
            <a:srgbClr val="F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6600CC"/>
                </a:solidFill>
                <a:latin typeface="Arial"/>
              </a:rPr>
              <a:t>Claude Sonnet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78992" y="5751576"/>
            <a:ext cx="271271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70A0E"/>
                </a:solidFill>
                <a:latin typeface="Arial"/>
              </a:rPr>
              <a:t>Pricing-Quote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78992" y="6153912"/>
            <a:ext cx="1073962" cy="256032"/>
          </a:xfrm>
          <a:prstGeom prst="roundRect">
            <a:avLst>
              <a:gd name="adj" fmla="val 50000"/>
            </a:avLst>
          </a:prstGeom>
          <a:solidFill>
            <a:srgbClr val="F0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intent: pricing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78992" y="6510528"/>
            <a:ext cx="362711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4C4F"/>
                </a:solidFill>
                <a:latin typeface="Arial"/>
              </a:rPr>
              <a:t>Quotes configured ranges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273040" y="5550408"/>
            <a:ext cx="4084319" cy="13716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8221766" y="5733288"/>
            <a:ext cx="952713" cy="274320"/>
          </a:xfrm>
          <a:prstGeom prst="roundRect">
            <a:avLst>
              <a:gd name="adj" fmla="val 50000"/>
            </a:avLst>
          </a:prstGeom>
          <a:solidFill>
            <a:srgbClr val="F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6600CC"/>
                </a:solidFill>
                <a:latin typeface="Arial"/>
              </a:rPr>
              <a:t>Claude Sonnet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29072" y="5751576"/>
            <a:ext cx="271271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70A0E"/>
                </a:solidFill>
                <a:latin typeface="Arial"/>
              </a:rPr>
              <a:t>Out-of-Area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529072" y="6153912"/>
            <a:ext cx="1316461" cy="256032"/>
          </a:xfrm>
          <a:prstGeom prst="roundRect">
            <a:avLst>
              <a:gd name="adj" fmla="val 50000"/>
            </a:avLst>
          </a:prstGeom>
          <a:solidFill>
            <a:srgbClr val="F0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intent: out_of_area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29072" y="6510528"/>
            <a:ext cx="362711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4C4F"/>
                </a:solidFill>
                <a:latin typeface="Arial"/>
              </a:rPr>
              <a:t>Captures out-of-area leads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723120" y="5550408"/>
            <a:ext cx="4084319" cy="13716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D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12671846" y="5733288"/>
            <a:ext cx="952713" cy="274320"/>
          </a:xfrm>
          <a:prstGeom prst="roundRect">
            <a:avLst>
              <a:gd name="adj" fmla="val 50000"/>
            </a:avLst>
          </a:prstGeom>
          <a:solidFill>
            <a:srgbClr val="F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1">
                <a:solidFill>
                  <a:srgbClr val="6600CC"/>
                </a:solidFill>
                <a:latin typeface="Arial"/>
              </a:rPr>
              <a:t>Claude Sonnet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79151" y="5751576"/>
            <a:ext cx="271271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70A0E"/>
                </a:solidFill>
                <a:latin typeface="Arial"/>
              </a:rPr>
              <a:t>General-FAQ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979151" y="6153912"/>
            <a:ext cx="1255836" cy="256032"/>
          </a:xfrm>
          <a:prstGeom prst="roundRect">
            <a:avLst>
              <a:gd name="adj" fmla="val 50000"/>
            </a:avLst>
          </a:prstGeom>
          <a:solidFill>
            <a:srgbClr val="F0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50" b="0">
                <a:solidFill>
                  <a:srgbClr val="4A4C4F"/>
                </a:solidFill>
                <a:latin typeface="Arial"/>
              </a:rPr>
              <a:t>intent: faq / else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79151" y="6510528"/>
            <a:ext cx="362711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4C4F"/>
                </a:solidFill>
                <a:latin typeface="Arial"/>
              </a:rPr>
              <a:t>Status, FAQs, handoff</a:t>
            </a:r>
          </a:p>
        </p:txBody>
      </p:sp>
    </p:spTree>
    <p:extLst>
      <p:ext uri="{BB962C8B-B14F-4D97-AF65-F5344CB8AC3E}">
        <p14:creationId xmlns:p14="http://schemas.microsoft.com/office/powerpoint/2010/main" val="3130291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3AD4E4-50A9-9E4D-0351-99C9D08ED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A006CB9-F21F-AB67-0234-3D198D67BA57}"/>
              </a:ext>
            </a:extLst>
          </p:cNvPr>
          <p:cNvSpPr txBox="1"/>
          <p:nvPr/>
        </p:nvSpPr>
        <p:spPr>
          <a:xfrm>
            <a:off x="822960" y="512064"/>
            <a:ext cx="1170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1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D29377A-792F-10B4-6929-85FCF5451FBE}"/>
              </a:ext>
            </a:extLst>
          </p:cNvPr>
          <p:cNvSpPr txBox="1"/>
          <p:nvPr/>
        </p:nvSpPr>
        <p:spPr>
          <a:xfrm>
            <a:off x="822960" y="804672"/>
            <a:ext cx="1170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Graded on Helpful, Honest, Harmless</a:t>
            </a:r>
            <a:endParaRPr lang="en-US" sz="2900" dirty="0"/>
          </a:p>
        </p:txBody>
      </p:sp>
      <p:pic>
        <p:nvPicPr>
          <p:cNvPr id="4" name="Image 0" descr="assets/logo-mark.png">
            <a:extLst>
              <a:ext uri="{FF2B5EF4-FFF2-40B4-BE49-F238E27FC236}">
                <a16:creationId xmlns:a16="http://schemas.microsoft.com/office/drawing/2014/main" id="{382C1242-FD0E-1977-9EE0-AC8EC7BC5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4832" y="493776"/>
            <a:ext cx="347472" cy="347472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61FB70E3-9A9E-5CCA-4074-74B11546A854}"/>
              </a:ext>
            </a:extLst>
          </p:cNvPr>
          <p:cNvSpPr txBox="1"/>
          <p:nvPr/>
        </p:nvSpPr>
        <p:spPr>
          <a:xfrm>
            <a:off x="822960" y="1463040"/>
            <a:ext cx="1261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 cases run through the live agent and analyzed using Azure AI Foundry.</a:t>
            </a:r>
            <a:endParaRPr lang="en-US" sz="1500" dirty="0"/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F66C8B51-7BD0-E364-6525-F5E20742DB9D}"/>
              </a:ext>
            </a:extLst>
          </p:cNvPr>
          <p:cNvSpPr txBox="1"/>
          <p:nvPr/>
        </p:nvSpPr>
        <p:spPr>
          <a:xfrm>
            <a:off x="822960" y="7818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handled.ai</a:t>
            </a:r>
            <a:endParaRPr lang="en-US" sz="1000" dirty="0"/>
          </a:p>
        </p:txBody>
      </p:sp>
      <p:sp>
        <p:nvSpPr>
          <p:cNvPr id="45" name="Text 37">
            <a:extLst>
              <a:ext uri="{FF2B5EF4-FFF2-40B4-BE49-F238E27FC236}">
                <a16:creationId xmlns:a16="http://schemas.microsoft.com/office/drawing/2014/main" id="{00131DB3-B545-F3A6-35DA-39A941887B6E}"/>
              </a:ext>
            </a:extLst>
          </p:cNvPr>
          <p:cNvSpPr txBox="1"/>
          <p:nvPr/>
        </p:nvSpPr>
        <p:spPr>
          <a:xfrm>
            <a:off x="11978640" y="7818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10</a:t>
            </a:r>
            <a:endParaRPr lang="en-US" sz="1000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2E5186DE-2937-9A2D-3001-5D3E025547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03" t="76998" r="45379"/>
          <a:stretch>
            <a:fillRect/>
          </a:stretch>
        </p:blipFill>
        <p:spPr>
          <a:xfrm>
            <a:off x="571872" y="1982676"/>
            <a:ext cx="11502899" cy="1262265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7F55528B-70B2-9695-DAE3-566F52DA5DA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6656" t="72275"/>
          <a:stretch>
            <a:fillRect/>
          </a:stretch>
        </p:blipFill>
        <p:spPr>
          <a:xfrm>
            <a:off x="751804" y="5760130"/>
            <a:ext cx="11605991" cy="14571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45E7B8-8A7D-AF81-50F4-412E055A1D0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981" t="72275" r="53122"/>
          <a:stretch>
            <a:fillRect/>
          </a:stretch>
        </p:blipFill>
        <p:spPr>
          <a:xfrm>
            <a:off x="505996" y="4381075"/>
            <a:ext cx="10201333" cy="15564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91CF91-A92F-20AD-6A29-6659C768748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621" t="76998"/>
          <a:stretch>
            <a:fillRect/>
          </a:stretch>
        </p:blipFill>
        <p:spPr>
          <a:xfrm>
            <a:off x="751804" y="3363617"/>
            <a:ext cx="10054348" cy="126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338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12064"/>
            <a:ext cx="1170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1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170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Flat, transparent pricing that makes ROI obvious</a:t>
            </a:r>
            <a:endParaRPr lang="en-US" sz="2900" dirty="0"/>
          </a:p>
        </p:txBody>
      </p:sp>
      <p:pic>
        <p:nvPicPr>
          <p:cNvPr id="4" name="Image 0" descr="assets/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4832" y="493776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1463040"/>
            <a:ext cx="1261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monthly tiers with included usage and a hard cap — answering the category's #1 complaint: surprise billing.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2103120"/>
            <a:ext cx="408432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1188720" y="2423160"/>
            <a:ext cx="225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2834640"/>
            <a:ext cx="335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$149</a:t>
            </a:r>
            <a:r>
              <a:rPr lang="en-US" sz="13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/mo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3474720"/>
            <a:ext cx="335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solo operator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1207008" y="3886200"/>
            <a:ext cx="3352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business number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answering + booking into 1 FSM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Missed-call text-back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Transcripts &amp; summaries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Spam filtering · hard spend cap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273040" y="2103120"/>
            <a:ext cx="4084320" cy="3657600"/>
          </a:xfrm>
          <a:prstGeom prst="roundRect">
            <a:avLst>
              <a:gd name="adj" fmla="val 3000"/>
            </a:avLst>
          </a:prstGeom>
          <a:solidFill>
            <a:srgbClr val="E7EFFC"/>
          </a:solidFill>
          <a:ln w="12700">
            <a:solidFill>
              <a:srgbClr val="115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574280" y="239572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15A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7574280" y="240487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5638800" y="2423160"/>
            <a:ext cx="225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5638800" y="2834640"/>
            <a:ext cx="335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$299</a:t>
            </a:r>
            <a:r>
              <a:rPr lang="en-US" sz="13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/mo</a:t>
            </a:r>
            <a:endParaRPr lang="en-US" sz="3200" dirty="0"/>
          </a:p>
        </p:txBody>
      </p:sp>
      <p:sp>
        <p:nvSpPr>
          <p:cNvPr id="16" name="Text 13"/>
          <p:cNvSpPr txBox="1"/>
          <p:nvPr/>
        </p:nvSpPr>
        <p:spPr>
          <a:xfrm>
            <a:off x="5638800" y="3474720"/>
            <a:ext cx="335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small teams (2–10)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5657088" y="3886200"/>
            <a:ext cx="3352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Starter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triage &amp; warm transfer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Multi-tech dispatch logic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Outbound follow-up · Spanish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dashboard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9723120" y="2103120"/>
            <a:ext cx="408432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10088880" y="2423160"/>
            <a:ext cx="225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10088880" y="2834640"/>
            <a:ext cx="335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$599</a:t>
            </a:r>
            <a:r>
              <a:rPr lang="en-US" sz="13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/mo</a:t>
            </a:r>
            <a:endParaRPr lang="en-US" sz="3200" dirty="0"/>
          </a:p>
        </p:txBody>
      </p:sp>
      <p:sp>
        <p:nvSpPr>
          <p:cNvPr id="21" name="Text 18"/>
          <p:cNvSpPr txBox="1"/>
          <p:nvPr/>
        </p:nvSpPr>
        <p:spPr>
          <a:xfrm>
            <a:off x="10088880" y="3474720"/>
            <a:ext cx="335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Multi-location / high volume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10107168" y="3886200"/>
            <a:ext cx="3352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Pro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numbers &amp; locations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support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intelligence (sentiment, trends)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822960" y="5989320"/>
            <a:ext cx="12984480" cy="1417320"/>
          </a:xfrm>
          <a:prstGeom prst="roundRect">
            <a:avLst>
              <a:gd name="adj" fmla="val 7742"/>
            </a:avLst>
          </a:prstGeom>
          <a:solidFill>
            <a:srgbClr val="082A5E"/>
          </a:solidFill>
          <a:ln w="12700">
            <a:solidFill>
              <a:srgbClr val="082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1188720" y="640080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15A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1" descr="assets/icons/hand-coin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61" y="6545641"/>
            <a:ext cx="313822" cy="313822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2011680" y="6227064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Star: Captured Opportunity Value</a:t>
            </a:r>
            <a:endParaRPr lang="en-US" sz="1600" dirty="0"/>
          </a:p>
        </p:txBody>
      </p:sp>
      <p:sp>
        <p:nvSpPr>
          <p:cNvPr id="27" name="Text 23"/>
          <p:cNvSpPr txBox="1"/>
          <p:nvPr/>
        </p:nvSpPr>
        <p:spPr>
          <a:xfrm>
            <a:off x="2011680" y="66294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B6C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recovered ~$1,200 job pays for months of Handled — above a budget receptionist, far below a $42–62K/yr office manager.</a:t>
            </a:r>
            <a:endParaRPr lang="en-US" sz="1250" dirty="0"/>
          </a:p>
        </p:txBody>
      </p:sp>
      <p:pic>
        <p:nvPicPr>
          <p:cNvPr id="28" name="Image 2" descr="assets/icons/circle-che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2155" y="6281928"/>
            <a:ext cx="201168" cy="201168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8904763" y="623620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price, no per-minute surprises</a:t>
            </a:r>
            <a:endParaRPr lang="en-US" sz="1200" dirty="0"/>
          </a:p>
        </p:txBody>
      </p:sp>
      <p:pic>
        <p:nvPicPr>
          <p:cNvPr id="30" name="Image 3" descr="assets/icons/circle-che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2155" y="6629400"/>
            <a:ext cx="201168" cy="201168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8904763" y="65836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hard spend cap you control</a:t>
            </a:r>
            <a:endParaRPr lang="en-US" sz="1200" dirty="0"/>
          </a:p>
        </p:txBody>
      </p:sp>
      <p:pic>
        <p:nvPicPr>
          <p:cNvPr id="32" name="Image 4" descr="assets/icons/circle-che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2155" y="6976872"/>
            <a:ext cx="201168" cy="201168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8904763" y="693115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charged for spam or hangups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822960" y="7818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9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handled.ai</a:t>
            </a:r>
            <a:endParaRPr lang="en-US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11978640" y="7818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9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12064"/>
            <a:ext cx="1170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15ACB"/>
                </a:solidFill>
                <a:latin typeface="Arial" pitchFamily="34" charset="0"/>
                <a:cs typeface="Arial" pitchFamily="34" charset="-120"/>
              </a:rPr>
              <a:t>My Takeaways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170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Learned</a:t>
            </a:r>
            <a:endParaRPr lang="en-US" sz="2900" dirty="0"/>
          </a:p>
        </p:txBody>
      </p:sp>
      <p:pic>
        <p:nvPicPr>
          <p:cNvPr id="4" name="Image 0" descr="assets/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4832" y="493776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1463040"/>
            <a:ext cx="1234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choice in the flow answers a question a reviewer would ask.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2148840"/>
            <a:ext cx="40843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143000" y="24688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assets/icons/route_115AC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9063" y="2604943"/>
            <a:ext cx="294803" cy="29480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828800" y="2514600"/>
            <a:ext cx="2849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Multi-Agents Solutions</a:t>
            </a:r>
            <a:endParaRPr lang="en-US" sz="145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3246120"/>
            <a:ext cx="344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agents enabled workflow depth and the ability to support multiple types of queries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273040" y="2148840"/>
            <a:ext cx="40843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5593080" y="24688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assets/icons/gauge_115AC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9143" y="2604943"/>
            <a:ext cx="294803" cy="29480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278880" y="2514600"/>
            <a:ext cx="2849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 work first</a:t>
            </a:r>
            <a:endParaRPr lang="en-US" sz="1450" dirty="0"/>
          </a:p>
        </p:txBody>
      </p:sp>
      <p:sp>
        <p:nvSpPr>
          <p:cNvPr id="15" name="Text 10"/>
          <p:cNvSpPr txBox="1"/>
          <p:nvPr/>
        </p:nvSpPr>
        <p:spPr>
          <a:xfrm>
            <a:off x="5593080" y="3246120"/>
            <a:ext cx="344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small Haiku classifiers filter spam and route intent before any Sonnet specialist runs.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9723120" y="2148840"/>
            <a:ext cx="40843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10043160" y="24688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assets/icons/lock_115AC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9223" y="2604943"/>
            <a:ext cx="294803" cy="294803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728960" y="2514600"/>
            <a:ext cx="2849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improves CX</a:t>
            </a:r>
            <a:endParaRPr lang="en-US" sz="1450" dirty="0"/>
          </a:p>
        </p:txBody>
      </p:sp>
      <p:sp>
        <p:nvSpPr>
          <p:cNvPr id="20" name="Text 14"/>
          <p:cNvSpPr txBox="1"/>
          <p:nvPr/>
        </p:nvSpPr>
        <p:spPr>
          <a:xfrm>
            <a:off x="10043160" y="3246120"/>
            <a:ext cx="344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Keeping memory of previous chats and mixing that with customer context enables richer experience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822960" y="4526280"/>
            <a:ext cx="40843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1143000" y="48463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assets/icons/badge-check_115AC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9063" y="4982383"/>
            <a:ext cx="294803" cy="294803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828800" y="4892040"/>
            <a:ext cx="2849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Evals are key</a:t>
            </a:r>
            <a:endParaRPr lang="en-US" sz="1450" dirty="0"/>
          </a:p>
        </p:txBody>
      </p:sp>
      <p:sp>
        <p:nvSpPr>
          <p:cNvPr id="25" name="Text 18"/>
          <p:cNvSpPr txBox="1"/>
          <p:nvPr/>
        </p:nvSpPr>
        <p:spPr>
          <a:xfrm>
            <a:off x="1143000" y="5623560"/>
            <a:ext cx="344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A4C4F"/>
                </a:solidFill>
                <a:latin typeface="Arial" pitchFamily="34" charset="0"/>
                <a:cs typeface="Arial" pitchFamily="34" charset="-120"/>
              </a:rPr>
              <a:t>Evals are the best way to determine the effectiveness of an AI Agent system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5273040" y="4526280"/>
            <a:ext cx="40843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0"/>
          <p:cNvSpPr/>
          <p:nvPr/>
        </p:nvSpPr>
        <p:spPr>
          <a:xfrm>
            <a:off x="5593080" y="48463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5" descr="assets/icons/siren_115AC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29143" y="4982383"/>
            <a:ext cx="294803" cy="294803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6278880" y="4892040"/>
            <a:ext cx="2849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Dev-OS rocks</a:t>
            </a:r>
            <a:endParaRPr lang="en-US" sz="1450" dirty="0"/>
          </a:p>
        </p:txBody>
      </p:sp>
      <p:sp>
        <p:nvSpPr>
          <p:cNvPr id="30" name="Text 22"/>
          <p:cNvSpPr txBox="1"/>
          <p:nvPr/>
        </p:nvSpPr>
        <p:spPr>
          <a:xfrm>
            <a:off x="5593080" y="5623560"/>
            <a:ext cx="344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A4C4F"/>
                </a:solidFill>
                <a:latin typeface="Arial" pitchFamily="34" charset="0"/>
                <a:cs typeface="Arial" pitchFamily="34" charset="-120"/>
              </a:rPr>
              <a:t>Helped me build the marketing, customer site, backend (</a:t>
            </a:r>
            <a:r>
              <a:rPr lang="en-US" sz="1200" dirty="0" err="1">
                <a:solidFill>
                  <a:srgbClr val="4A4C4F"/>
                </a:solidFill>
                <a:latin typeface="Arial" pitchFamily="34" charset="0"/>
                <a:cs typeface="Arial" pitchFamily="34" charset="-120"/>
              </a:rPr>
              <a:t>supabase</a:t>
            </a:r>
            <a:r>
              <a:rPr lang="en-US" sz="1200" dirty="0">
                <a:solidFill>
                  <a:srgbClr val="4A4C4F"/>
                </a:solidFill>
                <a:latin typeface="Arial" pitchFamily="34" charset="0"/>
                <a:cs typeface="Arial" pitchFamily="34" charset="-120"/>
              </a:rPr>
              <a:t>, n8n) and test harness easily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9723120" y="4526280"/>
            <a:ext cx="40843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4"/>
          <p:cNvSpPr/>
          <p:nvPr/>
        </p:nvSpPr>
        <p:spPr>
          <a:xfrm>
            <a:off x="10043160" y="48463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6" descr="assets/icons/shield-check_115AC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79223" y="4982383"/>
            <a:ext cx="294803" cy="294803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10728960" y="4892040"/>
            <a:ext cx="2849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070A0E"/>
                </a:solidFill>
                <a:latin typeface="Arial" pitchFamily="34" charset="0"/>
                <a:cs typeface="Arial" pitchFamily="34" charset="-120"/>
              </a:rPr>
              <a:t>Pricing for AI is challenging</a:t>
            </a:r>
            <a:endParaRPr lang="en-US" sz="1450" dirty="0"/>
          </a:p>
        </p:txBody>
      </p:sp>
      <p:sp>
        <p:nvSpPr>
          <p:cNvPr id="35" name="Text 26"/>
          <p:cNvSpPr txBox="1"/>
          <p:nvPr/>
        </p:nvSpPr>
        <p:spPr>
          <a:xfrm>
            <a:off x="10043160" y="5623560"/>
            <a:ext cx="344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already has 10 named players with price cutting already happening. VC capital is extending the fight. </a:t>
            </a:r>
            <a:endParaRPr lang="en-US" sz="1200" dirty="0"/>
          </a:p>
        </p:txBody>
      </p:sp>
      <p:sp>
        <p:nvSpPr>
          <p:cNvPr id="36" name="Text 27"/>
          <p:cNvSpPr txBox="1"/>
          <p:nvPr/>
        </p:nvSpPr>
        <p:spPr>
          <a:xfrm>
            <a:off x="822960" y="7818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handled.ai</a:t>
            </a:r>
            <a:endParaRPr lang="en-US" sz="1000" dirty="0"/>
          </a:p>
        </p:txBody>
      </p:sp>
      <p:sp>
        <p:nvSpPr>
          <p:cNvPr id="37" name="Text 28"/>
          <p:cNvSpPr txBox="1"/>
          <p:nvPr/>
        </p:nvSpPr>
        <p:spPr>
          <a:xfrm>
            <a:off x="11978640" y="7818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12064"/>
            <a:ext cx="1170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15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04672"/>
            <a:ext cx="1170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MVP to launch</a:t>
            </a:r>
            <a:endParaRPr lang="en-US" sz="2900" dirty="0"/>
          </a:p>
        </p:txBody>
      </p:sp>
      <p:pic>
        <p:nvPicPr>
          <p:cNvPr id="4" name="Image 0" descr="assets/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4832" y="493776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1463040"/>
            <a:ext cx="1261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value + highest frequency first; the riskiest surfaces get the most guardrail investment.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2377440"/>
            <a:ext cx="3006090" cy="3383280"/>
          </a:xfrm>
          <a:prstGeom prst="roundRect">
            <a:avLst>
              <a:gd name="adj" fmla="val 3650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143000" y="2743200"/>
            <a:ext cx="2366010" cy="502920"/>
          </a:xfrm>
          <a:prstGeom prst="roundRect">
            <a:avLst>
              <a:gd name="adj" fmla="val 18182"/>
            </a:avLst>
          </a:prstGeom>
          <a:solidFill>
            <a:srgbClr val="115A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1143000" y="2752344"/>
            <a:ext cx="236601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3383280"/>
            <a:ext cx="23660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~8–10 wks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170432" y="3840480"/>
            <a:ext cx="234772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answer + book into Jobber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Service-area check · SMS confirm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Missed-call text-back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 + summary + notify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Spam filtering · flat pricing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149090" y="2377440"/>
            <a:ext cx="3006090" cy="3383280"/>
          </a:xfrm>
          <a:prstGeom prst="roundRect">
            <a:avLst>
              <a:gd name="adj" fmla="val 3650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469130" y="2743200"/>
            <a:ext cx="2366010" cy="502920"/>
          </a:xfrm>
          <a:prstGeom prst="roundRect">
            <a:avLst>
              <a:gd name="adj" fmla="val 18182"/>
            </a:avLst>
          </a:prstGeom>
          <a:solidFill>
            <a:srgbClr val="0D46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4469130" y="2752344"/>
            <a:ext cx="236601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1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469130" y="3383280"/>
            <a:ext cx="23660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+6–8 wks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496562" y="3840480"/>
            <a:ext cx="234772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triage + warm transfer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Housecall Pro + ServiceTitan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 business rules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v1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/ Spanish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475220" y="2377440"/>
            <a:ext cx="3006090" cy="3383280"/>
          </a:xfrm>
          <a:prstGeom prst="roundRect">
            <a:avLst>
              <a:gd name="adj" fmla="val 3650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795260" y="2743200"/>
            <a:ext cx="2366010" cy="502920"/>
          </a:xfrm>
          <a:prstGeom prst="roundRect">
            <a:avLst>
              <a:gd name="adj" fmla="val 18182"/>
            </a:avLst>
          </a:prstGeom>
          <a:solidFill>
            <a:srgbClr val="7F0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7795260" y="2752344"/>
            <a:ext cx="236601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795260" y="3383280"/>
            <a:ext cx="23660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+8–10 wks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7822692" y="3840480"/>
            <a:ext cx="234772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Multi-tech dispatch logic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Outbound follow-up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Multi-location support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A2P 10DLC at scale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+ spend caps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10801350" y="2377440"/>
            <a:ext cx="3006090" cy="3383280"/>
          </a:xfrm>
          <a:prstGeom prst="roundRect">
            <a:avLst>
              <a:gd name="adj" fmla="val 3650"/>
            </a:avLst>
          </a:prstGeom>
          <a:solidFill>
            <a:srgbClr val="FFFFFF"/>
          </a:solidFill>
          <a:ln w="12700">
            <a:solidFill>
              <a:srgbClr val="DADA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11121390" y="2743200"/>
            <a:ext cx="2366010" cy="502920"/>
          </a:xfrm>
          <a:prstGeom prst="roundRect">
            <a:avLst>
              <a:gd name="adj" fmla="val 18182"/>
            </a:avLst>
          </a:prstGeom>
          <a:solidFill>
            <a:srgbClr val="4A4C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11121390" y="2752344"/>
            <a:ext cx="236601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1121390" y="3383280"/>
            <a:ext cx="23660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4A4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1148822" y="3840480"/>
            <a:ext cx="234772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intelligence &amp; tagging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FSM / CRM integrations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trades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Quality-score metric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70A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Self-serve onboarding polish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822960" y="7818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handled.ai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11978640" y="7818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9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2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731520"/>
            <a:ext cx="566928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481328" y="76809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28346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get you Handled.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9776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B6C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office manager that answers, books, and follows up — so you never lose the next job to a missed call.</a:t>
            </a:r>
            <a:endParaRPr lang="en-US" sz="17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9A6BCA7-7B4F-D27C-41E0-D74808BDC7A7}"/>
              </a:ext>
            </a:extLst>
          </p:cNvPr>
          <p:cNvGrpSpPr/>
          <p:nvPr/>
        </p:nvGrpSpPr>
        <p:grpSpPr>
          <a:xfrm>
            <a:off x="891540" y="5108628"/>
            <a:ext cx="10104120" cy="585216"/>
            <a:chOff x="822960" y="6108192"/>
            <a:chExt cx="10104120" cy="585216"/>
          </a:xfrm>
        </p:grpSpPr>
        <p:sp>
          <p:nvSpPr>
            <p:cNvPr id="14" name="Shape 9"/>
            <p:cNvSpPr/>
            <p:nvPr/>
          </p:nvSpPr>
          <p:spPr>
            <a:xfrm>
              <a:off x="822960" y="6126480"/>
              <a:ext cx="566928" cy="566928"/>
            </a:xfrm>
            <a:prstGeom prst="roundRect">
              <a:avLst>
                <a:gd name="adj" fmla="val 16129"/>
              </a:avLst>
            </a:prstGeom>
            <a:solidFill>
              <a:srgbClr val="0A367B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15" name="Image 3" descr="assets/icons/gauge_FFFFFF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9023" y="6262543"/>
              <a:ext cx="294803" cy="294803"/>
            </a:xfrm>
            <a:prstGeom prst="rect">
              <a:avLst/>
            </a:prstGeom>
          </p:spPr>
        </p:pic>
        <p:sp>
          <p:nvSpPr>
            <p:cNvPr id="16" name="Text 10"/>
            <p:cNvSpPr txBox="1"/>
            <p:nvPr/>
          </p:nvSpPr>
          <p:spPr>
            <a:xfrm>
              <a:off x="1600200" y="6108192"/>
              <a:ext cx="420624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89B7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Customer Login</a:t>
              </a:r>
              <a:endParaRPr lang="en-US" sz="1300" dirty="0"/>
            </a:p>
          </p:txBody>
        </p:sp>
        <p:sp>
          <p:nvSpPr>
            <p:cNvPr id="17" name="Text 11"/>
            <p:cNvSpPr txBox="1"/>
            <p:nvPr/>
          </p:nvSpPr>
          <p:spPr>
            <a:xfrm>
              <a:off x="1600200" y="6400800"/>
              <a:ext cx="420624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handled-customer-app.netlify.app</a:t>
              </a:r>
              <a:endParaRPr lang="en-US" sz="1400" dirty="0"/>
            </a:p>
          </p:txBody>
        </p:sp>
        <p:sp>
          <p:nvSpPr>
            <p:cNvPr id="18" name="Shape 12"/>
            <p:cNvSpPr/>
            <p:nvPr/>
          </p:nvSpPr>
          <p:spPr>
            <a:xfrm>
              <a:off x="5943600" y="6126480"/>
              <a:ext cx="566928" cy="566928"/>
            </a:xfrm>
            <a:prstGeom prst="roundRect">
              <a:avLst>
                <a:gd name="adj" fmla="val 16129"/>
              </a:avLst>
            </a:prstGeom>
            <a:solidFill>
              <a:srgbClr val="0A367B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19" name="Image 4" descr="assets/icons/message-square_FFFFFF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79663" y="6262543"/>
              <a:ext cx="294803" cy="294803"/>
            </a:xfrm>
            <a:prstGeom prst="rect">
              <a:avLst/>
            </a:prstGeom>
          </p:spPr>
        </p:pic>
        <p:sp>
          <p:nvSpPr>
            <p:cNvPr id="20" name="Text 13"/>
            <p:cNvSpPr txBox="1"/>
            <p:nvPr/>
          </p:nvSpPr>
          <p:spPr>
            <a:xfrm>
              <a:off x="6720840" y="6108192"/>
              <a:ext cx="420624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89B7FF"/>
                  </a:solidFill>
                  <a:latin typeface="Arial" pitchFamily="34" charset="0"/>
                  <a:cs typeface="Arial" pitchFamily="34" charset="-120"/>
                </a:rPr>
                <a:t>Marketing Website</a:t>
              </a:r>
              <a:endParaRPr lang="en-US" sz="1300" dirty="0"/>
            </a:p>
          </p:txBody>
        </p:sp>
        <p:sp>
          <p:nvSpPr>
            <p:cNvPr id="21" name="Text 14"/>
            <p:cNvSpPr txBox="1"/>
            <p:nvPr/>
          </p:nvSpPr>
          <p:spPr>
            <a:xfrm>
              <a:off x="6720840" y="6400800"/>
              <a:ext cx="420624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handled-website-ajik.netlify.app</a:t>
              </a:r>
              <a:endParaRPr lang="en-US" sz="1400" dirty="0"/>
            </a:p>
          </p:txBody>
        </p:sp>
      </p:grpSp>
      <p:sp>
        <p:nvSpPr>
          <p:cNvPr id="22" name="Text 15"/>
          <p:cNvSpPr txBox="1"/>
          <p:nvPr/>
        </p:nvSpPr>
        <p:spPr>
          <a:xfrm>
            <a:off x="822960" y="7680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9B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Francis  ·  AI Product Capstone  ·  2026</a:t>
            </a:r>
            <a:endParaRPr lang="en-US" sz="12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B58220B-3A82-9828-2EAC-38BBCEF9ACF3}"/>
              </a:ext>
            </a:extLst>
          </p:cNvPr>
          <p:cNvGrpSpPr/>
          <p:nvPr/>
        </p:nvGrpSpPr>
        <p:grpSpPr>
          <a:xfrm>
            <a:off x="822960" y="6291387"/>
            <a:ext cx="10104120" cy="733083"/>
            <a:chOff x="822960" y="5141155"/>
            <a:chExt cx="10104120" cy="733083"/>
          </a:xfrm>
        </p:grpSpPr>
        <p:sp>
          <p:nvSpPr>
            <p:cNvPr id="8" name="Text 4"/>
            <p:cNvSpPr txBox="1"/>
            <p:nvPr/>
          </p:nvSpPr>
          <p:spPr>
            <a:xfrm>
              <a:off x="1600200" y="5193792"/>
              <a:ext cx="420624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89B7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LinkedIn</a:t>
              </a:r>
              <a:endParaRPr lang="en-US" sz="1300" dirty="0"/>
            </a:p>
          </p:txBody>
        </p:sp>
        <p:sp>
          <p:nvSpPr>
            <p:cNvPr id="9" name="Text 5"/>
            <p:cNvSpPr txBox="1"/>
            <p:nvPr/>
          </p:nvSpPr>
          <p:spPr>
            <a:xfrm>
              <a:off x="1600200" y="5486400"/>
              <a:ext cx="420624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4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https://</a:t>
              </a:r>
              <a:r>
                <a:rPr lang="en-US" sz="1400" dirty="0" err="1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www.linkedin.com</a:t>
              </a:r>
              <a:r>
                <a:rPr lang="en-US" sz="14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/in/</a:t>
              </a:r>
              <a:r>
                <a:rPr lang="en-US" sz="1400" dirty="0" err="1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johnfrancisny</a:t>
              </a:r>
              <a:endParaRPr lang="en-US" sz="1400" dirty="0"/>
            </a:p>
          </p:txBody>
        </p:sp>
        <p:sp>
          <p:nvSpPr>
            <p:cNvPr id="10" name="Shape 6"/>
            <p:cNvSpPr/>
            <p:nvPr/>
          </p:nvSpPr>
          <p:spPr>
            <a:xfrm>
              <a:off x="5943600" y="5212080"/>
              <a:ext cx="566928" cy="566928"/>
            </a:xfrm>
            <a:prstGeom prst="roundRect">
              <a:avLst>
                <a:gd name="adj" fmla="val 16129"/>
              </a:avLst>
            </a:prstGeom>
            <a:solidFill>
              <a:srgbClr val="0A367B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11" name="Image 2" descr="assets/icons/mail_FFFFFF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79663" y="5348143"/>
              <a:ext cx="294803" cy="294803"/>
            </a:xfrm>
            <a:prstGeom prst="rect">
              <a:avLst/>
            </a:prstGeom>
          </p:spPr>
        </p:pic>
        <p:sp>
          <p:nvSpPr>
            <p:cNvPr id="12" name="Text 7"/>
            <p:cNvSpPr txBox="1"/>
            <p:nvPr/>
          </p:nvSpPr>
          <p:spPr>
            <a:xfrm>
              <a:off x="6720840" y="5193792"/>
              <a:ext cx="420624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89B7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Email</a:t>
              </a:r>
              <a:endParaRPr lang="en-US" sz="1300" dirty="0"/>
            </a:p>
          </p:txBody>
        </p:sp>
        <p:sp>
          <p:nvSpPr>
            <p:cNvPr id="13" name="Text 8"/>
            <p:cNvSpPr txBox="1"/>
            <p:nvPr/>
          </p:nvSpPr>
          <p:spPr>
            <a:xfrm>
              <a:off x="6720840" y="5486400"/>
              <a:ext cx="420624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johnfrancis04@gmail.com</a:t>
              </a:r>
              <a:endParaRPr lang="en-US" sz="1400" dirty="0"/>
            </a:p>
          </p:txBody>
        </p:sp>
        <p:pic>
          <p:nvPicPr>
            <p:cNvPr id="25" name="Picture 24" descr="Transparent Linkedin Logo PNGs for Free Download">
              <a:extLst>
                <a:ext uri="{FF2B5EF4-FFF2-40B4-BE49-F238E27FC236}">
                  <a16:creationId xmlns:a16="http://schemas.microsoft.com/office/drawing/2014/main" id="{D1BAFC51-2958-93EE-D8F4-83DF77C7FD8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22960" y="5141155"/>
              <a:ext cx="733083" cy="73308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</TotalTime>
  <Words>1233</Words>
  <Application>Microsoft Macintosh PowerPoint</Application>
  <PresentationFormat>Custom</PresentationFormat>
  <Paragraphs>237</Paragraphs>
  <Slides>10</Slides>
  <Notes>10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Handled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Handled — Pitch Deck</dc:title>
  <dc:subject>PptxGenJS Presentation</dc:subject>
  <dc:creator>John Francis</dc:creator>
  <cp:lastModifiedBy>John Francis</cp:lastModifiedBy>
  <cp:revision>20</cp:revision>
  <dcterms:created xsi:type="dcterms:W3CDTF">2026-10-08T17:51:35Z</dcterms:created>
  <dcterms:modified xsi:type="dcterms:W3CDTF">2026-10-09T00:44:09Z</dcterms:modified>
</cp:coreProperties>
</file>