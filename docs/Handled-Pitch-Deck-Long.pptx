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76" r:id="rId3"/>
    <p:sldId id="257" r:id="rId4"/>
    <p:sldId id="258" r:id="rId5"/>
    <p:sldId id="259" r:id="rId6"/>
    <p:sldId id="261" r:id="rId7"/>
    <p:sldId id="271" r:id="rId8"/>
    <p:sldId id="270" r:id="rId9"/>
    <p:sldId id="272" r:id="rId10"/>
    <p:sldId id="263" r:id="rId11"/>
    <p:sldId id="274" r:id="rId12"/>
    <p:sldId id="265" r:id="rId13"/>
    <p:sldId id="267" r:id="rId14"/>
    <p:sldId id="266" r:id="rId15"/>
    <p:sldId id="269" r:id="rId16"/>
    <p:sldId id="273" r:id="rId17"/>
    <p:sldId id="262" r:id="rId18"/>
    <p:sldId id="260" r:id="rId19"/>
    <p:sldId id="268" r:id="rId20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03"/>
    <p:restoredTop sz="94610"/>
  </p:normalViewPr>
  <p:slideViewPr>
    <p:cSldViewPr snapToGrid="0" snapToObjects="1">
      <p:cViewPr>
        <p:scale>
          <a:sx n="114" d="100"/>
          <a:sy n="114" d="100"/>
        </p:scale>
        <p:origin x="9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7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3B9D-728E-CF3A-2163-2236475C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38161-584B-5714-0A3A-29B3CA3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5D2C5-520B-EA99-B4E4-99506ADB9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34F56-1A02-9CC5-BCC2-37A9DDA6F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2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78D64-85CC-D7DF-73EF-9149829E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04FD6-17FF-B3AD-7881-67C8B8476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D3EA1-1EDF-82E8-90EC-300836F54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8DD0A-6D9F-4279-D147-3308C292D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49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963B-F055-0C7D-4316-052D4CD8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A6FF3-FF9B-F4F1-1141-C195E953E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A7560-829F-FDEA-BC6F-C7DC841F8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3FB8D-A08B-C5F8-8E49-4196157C2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5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7398-AE91-7290-B820-BE3A911C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741A7-AA18-3167-2B01-6CBAD6AE1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B4C41-E122-AE47-FAE7-6870828AE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69FB5-5AC6-893E-2ADD-29E990B09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9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C82F-3AEE-C513-9BF6-898A9CF1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342CA-EA75-B2CC-21D1-8CBE817D3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24637-4BAC-3AE1-6F68-9853A110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D415-73D2-A47D-BC92-F71D441D3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6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4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4" Type="http://schemas.openxmlformats.org/officeDocument/2006/relationships/image" Target="../media/image34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11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A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E6E3A-D4DA-BD29-B038-E9F4FDC0B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>
            <a:extLst>
              <a:ext uri="{FF2B5EF4-FFF2-40B4-BE49-F238E27FC236}">
                <a16:creationId xmlns:a16="http://schemas.microsoft.com/office/drawing/2014/main" id="{29C8BF5C-2EF6-B58F-11C2-6ED7BA10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14FA85B-44B0-A1EC-C3E9-8121CE518B0F}"/>
              </a:ext>
            </a:extLst>
          </p:cNvPr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40A5FA7-555C-9085-B205-C9837FF732EF}"/>
              </a:ext>
            </a:extLst>
          </p:cNvPr>
          <p:cNvSpPr txBox="1"/>
          <p:nvPr/>
        </p:nvSpPr>
        <p:spPr>
          <a:xfrm>
            <a:off x="8229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MANAGER  ·  PRODUCT CAPSTONE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A795FB0-1930-4013-5BA5-C3F8BC837A2C}"/>
              </a:ext>
            </a:extLst>
          </p:cNvPr>
          <p:cNvSpPr txBox="1"/>
          <p:nvPr/>
        </p:nvSpPr>
        <p:spPr>
          <a:xfrm>
            <a:off x="822960" y="3063240"/>
            <a:ext cx="8595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for home &amp; local service businesses</a:t>
            </a:r>
            <a:endParaRPr lang="en-US" sz="4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391F550-7D95-EF75-D942-096C04EB67BC}"/>
              </a:ext>
            </a:extLst>
          </p:cNvPr>
          <p:cNvSpPr txBox="1"/>
          <p:nvPr/>
        </p:nvSpPr>
        <p:spPr>
          <a:xfrm>
            <a:off x="822960" y="52578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answers every text, books the job into your field-service schedule, and follows up — so owner-operators stop losing revenue to the competitor who picked up first.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E1A7697-BF45-D08C-EAD0-2B2994FFE940}"/>
              </a:ext>
            </a:extLst>
          </p:cNvPr>
          <p:cNvSpPr txBox="1"/>
          <p:nvPr/>
        </p:nvSpPr>
        <p:spPr>
          <a:xfrm>
            <a:off x="822960" y="7086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</a:t>
            </a:r>
            <a:r>
              <a:rPr lang="en-US" sz="13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Designed, built &amp; deployed — website · customer app · test harness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A695323-8883-9C6A-5672-2D1FCE7EE320}"/>
              </a:ext>
            </a:extLst>
          </p:cNvPr>
          <p:cNvSpPr/>
          <p:nvPr/>
        </p:nvSpPr>
        <p:spPr>
          <a:xfrm>
            <a:off x="9829800" y="2743200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0A36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80866F-1D66-875B-6B9A-E7DD5755A9B7}"/>
              </a:ext>
            </a:extLst>
          </p:cNvPr>
          <p:cNvSpPr/>
          <p:nvPr/>
        </p:nvSpPr>
        <p:spPr>
          <a:xfrm>
            <a:off x="10104120" y="30632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icons/phone-call_FFFFFF.png">
            <a:extLst>
              <a:ext uri="{FF2B5EF4-FFF2-40B4-BE49-F238E27FC236}">
                <a16:creationId xmlns:a16="http://schemas.microsoft.com/office/drawing/2014/main" id="{CB3DCAA1-F8AB-7C41-6D2E-AD0CA7274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128" y="3221248"/>
            <a:ext cx="342351" cy="342351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FDAD4EA9-27ED-F807-8460-086D0D1CDCD4}"/>
              </a:ext>
            </a:extLst>
          </p:cNvPr>
          <p:cNvSpPr txBox="1"/>
          <p:nvPr/>
        </p:nvSpPr>
        <p:spPr>
          <a:xfrm>
            <a:off x="10927080" y="3081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text</a:t>
            </a:r>
            <a:endParaRPr lang="en-US" sz="1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B78D2F3-F72A-AA5F-CCEA-B0679B1E5CCB}"/>
              </a:ext>
            </a:extLst>
          </p:cNvPr>
          <p:cNvSpPr txBox="1"/>
          <p:nvPr/>
        </p:nvSpPr>
        <p:spPr>
          <a:xfrm>
            <a:off x="10927080" y="34107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natural conversation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C46A034-BA29-AF02-36F6-7E2B47A15051}"/>
              </a:ext>
            </a:extLst>
          </p:cNvPr>
          <p:cNvSpPr/>
          <p:nvPr/>
        </p:nvSpPr>
        <p:spPr>
          <a:xfrm>
            <a:off x="10104120" y="413308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calendar-check_FFFFFF.png">
            <a:extLst>
              <a:ext uri="{FF2B5EF4-FFF2-40B4-BE49-F238E27FC236}">
                <a16:creationId xmlns:a16="http://schemas.microsoft.com/office/drawing/2014/main" id="{73824275-CE72-5EA3-2A0D-73E9B3051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128" y="4291096"/>
            <a:ext cx="342351" cy="342351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C4C2224B-D490-26CD-D9F1-58FA10E47AE5}"/>
              </a:ext>
            </a:extLst>
          </p:cNvPr>
          <p:cNvSpPr txBox="1"/>
          <p:nvPr/>
        </p:nvSpPr>
        <p:spPr>
          <a:xfrm>
            <a:off x="10927080" y="41513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into your FSM (Soon)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09DDB3D-30E5-85A7-5E73-97B512B68402}"/>
              </a:ext>
            </a:extLst>
          </p:cNvPr>
          <p:cNvSpPr txBox="1"/>
          <p:nvPr/>
        </p:nvSpPr>
        <p:spPr>
          <a:xfrm>
            <a:off x="109270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Jobber · Housecall Pro · ServiceTitan</a:t>
            </a:r>
            <a:endParaRPr lang="en-US" sz="11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7D76E18-1504-8937-289C-2ADD33299777}"/>
              </a:ext>
            </a:extLst>
          </p:cNvPr>
          <p:cNvSpPr/>
          <p:nvPr/>
        </p:nvSpPr>
        <p:spPr>
          <a:xfrm>
            <a:off x="10104120" y="520293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briefcase_FFFFFF.png">
            <a:extLst>
              <a:ext uri="{FF2B5EF4-FFF2-40B4-BE49-F238E27FC236}">
                <a16:creationId xmlns:a16="http://schemas.microsoft.com/office/drawing/2014/main" id="{B28643C8-5049-518D-0D36-1E07206EA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2128" y="5360944"/>
            <a:ext cx="342351" cy="342351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2BF974C7-A2DC-B19E-1CE3-9964E3F6E762}"/>
              </a:ext>
            </a:extLst>
          </p:cNvPr>
          <p:cNvSpPr txBox="1"/>
          <p:nvPr/>
        </p:nvSpPr>
        <p:spPr>
          <a:xfrm>
            <a:off x="10927080" y="5221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Office-manager scope</a:t>
            </a:r>
            <a:endParaRPr lang="en-US" sz="1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3560FB3-B62A-5FA7-2A5E-B7BC213882A4}"/>
              </a:ext>
            </a:extLst>
          </p:cNvPr>
          <p:cNvSpPr txBox="1"/>
          <p:nvPr/>
        </p:nvSpPr>
        <p:spPr>
          <a:xfrm>
            <a:off x="10927080" y="5550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Text-back, follow-up, triage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41929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8EF8-A62F-6257-7AF7-D6A5FCA0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78D9C4-840E-9729-3104-A74CBAFA033A}"/>
              </a:ext>
            </a:extLst>
          </p:cNvPr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cs typeface="Arial" pitchFamily="34" charset="-120"/>
              </a:rPr>
              <a:t>WHAT IS THIS?</a:t>
            </a:r>
            <a:endParaRPr lang="en-US" sz="1200" dirty="0">
              <a:solidFill>
                <a:srgbClr val="105ACB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F8221E-F4F8-5C2F-8498-1059205594BE}"/>
              </a:ext>
            </a:extLst>
          </p:cNvPr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for AI Product Management Course</a:t>
            </a:r>
            <a:endParaRPr lang="en-US" sz="2900" dirty="0"/>
          </a:p>
        </p:txBody>
      </p:sp>
      <p:pic>
        <p:nvPicPr>
          <p:cNvPr id="4" name="Image 0" descr="assets/logo-mark.png">
            <a:extLst>
              <a:ext uri="{FF2B5EF4-FFF2-40B4-BE49-F238E27FC236}">
                <a16:creationId xmlns:a16="http://schemas.microsoft.com/office/drawing/2014/main" id="{E20B1AAF-5027-053E-1BC2-02F7BE273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55CE383F-AB9E-7E43-9B50-465E160B8D6A}"/>
              </a:ext>
            </a:extLst>
          </p:cNvPr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&amp; Build in 6 weeks</a:t>
            </a:r>
            <a:endParaRPr lang="en-US" sz="15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1699455-D0CD-BD65-6FE9-431E97BEA827}"/>
              </a:ext>
            </a:extLst>
          </p:cNvPr>
          <p:cNvSpPr/>
          <p:nvPr/>
        </p:nvSpPr>
        <p:spPr>
          <a:xfrm>
            <a:off x="82296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FB28D18-2812-0348-E2BB-5E24FE87D748}"/>
              </a:ext>
            </a:extLst>
          </p:cNvPr>
          <p:cNvSpPr/>
          <p:nvPr/>
        </p:nvSpPr>
        <p:spPr>
          <a:xfrm>
            <a:off x="118872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target_115ACB.png">
            <a:extLst>
              <a:ext uri="{FF2B5EF4-FFF2-40B4-BE49-F238E27FC236}">
                <a16:creationId xmlns:a16="http://schemas.microsoft.com/office/drawing/2014/main" id="{722B4313-FCF8-093B-309B-4C2473683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896" y="2932664"/>
            <a:ext cx="370881" cy="37088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E54CAA1-33E8-DA5A-6ABA-34234DCE37A8}"/>
              </a:ext>
            </a:extLst>
          </p:cNvPr>
          <p:cNvSpPr txBox="1"/>
          <p:nvPr/>
        </p:nvSpPr>
        <p:spPr>
          <a:xfrm>
            <a:off x="118872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F7255AE-3F62-CEA6-B0BE-FFB6930A4975}"/>
              </a:ext>
            </a:extLst>
          </p:cNvPr>
          <p:cNvSpPr txBox="1"/>
          <p:nvPr/>
        </p:nvSpPr>
        <p:spPr>
          <a:xfrm>
            <a:off x="118872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Get practical hands-on understanding on building AI based systems for customers</a:t>
            </a: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Used Claude </a:t>
            </a:r>
            <a:r>
              <a:rPr lang="en-US" sz="1300" dirty="0" err="1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CoWork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/Code to do day to day work but lacked further insight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66F2111-EAC6-22E7-EB97-2FEAB61FA05B}"/>
              </a:ext>
            </a:extLst>
          </p:cNvPr>
          <p:cNvSpPr/>
          <p:nvPr/>
        </p:nvSpPr>
        <p:spPr>
          <a:xfrm>
            <a:off x="527304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8B1DB83-3885-85F4-329B-FC16419A4CDA}"/>
              </a:ext>
            </a:extLst>
          </p:cNvPr>
          <p:cNvSpPr/>
          <p:nvPr/>
        </p:nvSpPr>
        <p:spPr>
          <a:xfrm>
            <a:off x="563880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trending-up_115ACB.png">
            <a:extLst>
              <a:ext uri="{FF2B5EF4-FFF2-40B4-BE49-F238E27FC236}">
                <a16:creationId xmlns:a16="http://schemas.microsoft.com/office/drawing/2014/main" id="{240B8615-244D-3386-67F4-BCCB55ACD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976" y="2932664"/>
            <a:ext cx="370881" cy="370881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91B0BB0A-A7A3-FD4D-1ABE-4CD9FF66A9B2}"/>
              </a:ext>
            </a:extLst>
          </p:cNvPr>
          <p:cNvSpPr txBox="1"/>
          <p:nvPr/>
        </p:nvSpPr>
        <p:spPr>
          <a:xfrm>
            <a:off x="563880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Build</a:t>
            </a:r>
            <a:endParaRPr lang="en-US" sz="19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0AE1AF9-1ECE-E85D-A3C4-81AE5581810C}"/>
              </a:ext>
            </a:extLst>
          </p:cNvPr>
          <p:cNvSpPr txBox="1"/>
          <p:nvPr/>
        </p:nvSpPr>
        <p:spPr>
          <a:xfrm>
            <a:off x="563880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 course, each week included 4+ hours of class time + multiple labs</a:t>
            </a: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good vs. bad uses for AI solutions + pricing AI products</a:t>
            </a: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practical knowledge of how to design, build, validate and deploy multi-agent systems.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29DE879-4773-F3A3-6AAD-DEF648C75347}"/>
              </a:ext>
            </a:extLst>
          </p:cNvPr>
          <p:cNvSpPr/>
          <p:nvPr/>
        </p:nvSpPr>
        <p:spPr>
          <a:xfrm>
            <a:off x="972312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C780C7D6-DBB9-3B03-0647-7C5DB0DFB404}"/>
              </a:ext>
            </a:extLst>
          </p:cNvPr>
          <p:cNvSpPr/>
          <p:nvPr/>
        </p:nvSpPr>
        <p:spPr>
          <a:xfrm>
            <a:off x="1008888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scale_115ACB.png">
            <a:extLst>
              <a:ext uri="{FF2B5EF4-FFF2-40B4-BE49-F238E27FC236}">
                <a16:creationId xmlns:a16="http://schemas.microsoft.com/office/drawing/2014/main" id="{347EF785-ABB8-12B5-D976-4FD014CF5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056" y="2932664"/>
            <a:ext cx="370881" cy="370881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50C07F02-1066-DC99-72B0-4D9A144CF29A}"/>
              </a:ext>
            </a:extLst>
          </p:cNvPr>
          <p:cNvSpPr txBox="1"/>
          <p:nvPr/>
        </p:nvSpPr>
        <p:spPr>
          <a:xfrm>
            <a:off x="1008888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19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0E1E350-FEAD-C310-5325-2547690E5B12}"/>
              </a:ext>
            </a:extLst>
          </p:cNvPr>
          <p:cNvSpPr txBox="1"/>
          <p:nvPr/>
        </p:nvSpPr>
        <p:spPr>
          <a:xfrm>
            <a:off x="1008888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came to me on week 1 but was not sure if it was correct until the last couple of weeks</a:t>
            </a: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is part of week 6.</a:t>
            </a: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 of building on the nights and weekends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$200 budget for building.</a:t>
            </a:r>
            <a:endParaRPr lang="en-US" sz="13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5373E78-779A-AB8E-73D8-C5D2F5CCFEBC}"/>
              </a:ext>
            </a:extLst>
          </p:cNvPr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482D655-9F9E-AA6A-DCE4-ED0CB1FF9246}"/>
              </a:ext>
            </a:extLst>
          </p:cNvPr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14924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missed call is a lost job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Owner-operators are in the field, not by the phone — and the leak is invisible until you add it up.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inbound calls go unanswered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Invoca, 2026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65576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557016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359359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by a live person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557016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Invoca, 2026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08192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199632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missed callers call a competitor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199632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Benchmarks, 2026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750808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842248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8878824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never call back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842248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Benchmarks, 2026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1393424" y="2148840"/>
            <a:ext cx="2414016" cy="2103120"/>
          </a:xfrm>
          <a:prstGeom prst="roundRect">
            <a:avLst>
              <a:gd name="adj" fmla="val 4348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1484864" y="2404872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1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~$1,200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value of one missed call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484864" y="3959352"/>
            <a:ext cx="2231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Invoca, 2026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22960" y="4709160"/>
            <a:ext cx="12984480" cy="1371600"/>
          </a:xfrm>
          <a:prstGeom prst="roundRect">
            <a:avLst>
              <a:gd name="adj" fmla="val 8000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188720" y="509320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assets/icons/triangle-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61" y="5238049"/>
            <a:ext cx="313822" cy="31382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057400" y="4965192"/>
            <a:ext cx="11384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ten calls a week at ~$1,200 each </a:t>
            </a: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six figures a year walking to the competitor who picked up first. Voicemail doesn't save it — most callers just dial the next company.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635508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home services: a ~$600B industry, ~2.5M businesses — most of them running on inbound calls.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</a:t>
            </a:r>
            <a:r>
              <a:rPr lang="en-US" sz="1200" b="1" kern="0" spc="150" dirty="0">
                <a:solidFill>
                  <a:srgbClr val="10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MATTERS</a:t>
            </a:r>
            <a:endParaRPr lang="en-US" sz="1200" dirty="0">
              <a:solidFill>
                <a:srgbClr val="105ACB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$600B market — and the pain is already paid for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buyers already feel the missed-call pain, and already pay for software every month.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8872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target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896" y="2932664"/>
            <a:ext cx="370881" cy="3708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~2.5M US home-service businesses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is on a roof or under a sink — can't answer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justify a $42–62K/yr office manager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is the affordable middle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27304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3880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trending-up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976" y="2932664"/>
            <a:ext cx="370881" cy="37088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3880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63880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software ~$3.1B in the US, growing ~12%/yr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AI-voice slice is growing 25–40%/yr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own voice quality — </a:t>
            </a:r>
            <a:r>
              <a:rPr lang="en-US" sz="1300" b="1" dirty="0">
                <a:solidFill>
                  <a:srgbClr val="10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workflow depth</a:t>
            </a:r>
            <a:endParaRPr lang="en-US" sz="1300" b="1" dirty="0">
              <a:solidFill>
                <a:srgbClr val="105ACB"/>
              </a:solidFill>
            </a:endParaRPr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300" b="1" dirty="0">
                <a:solidFill>
                  <a:srgbClr val="10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is depth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it's open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723120" y="237744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088880" y="2761488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scal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056" y="2932664"/>
            <a:ext cx="370881" cy="37088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88880" y="3657600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0088880" y="4251960"/>
            <a:ext cx="3398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~$600B industry (~$5–10B software)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~$3B  (~1M businesses with call volume)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$15–60M ARR  (5k–20k shops, 3-yr)</a:t>
            </a:r>
            <a:endParaRPr lang="en-US" sz="130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$249/mo blended ACV ≈ $3K/yr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Answer. Book. Follow up.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request in, a real booked job out — that's planning + tool use + dialog, the definition of an agent.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08176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phone-cal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184" y="2764048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no phone tree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88336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54096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39312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assets/icons/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320" y="276404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182112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145536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163824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+ urgency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19472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285232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70448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icons/calendar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456" y="276404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13248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376672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slot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394960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FSM availability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150608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516368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8101584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assets/icons/wren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9592" y="2764048"/>
            <a:ext cx="342351" cy="34235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44384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607808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job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626096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your FSM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381744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747504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332720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assets/icons/message-squar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0728" y="276404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875520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9838944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9857232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by SMS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11612880" y="340614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11978640" y="23317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12563856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6" descr="assets/icons/file-tex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1864" y="2764048"/>
            <a:ext cx="342351" cy="342351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2106656" y="2478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2070080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12088368" y="379476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to owner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822960" y="4983480"/>
            <a:ext cx="4084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114300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7" descr="assets/icons/shield-check_115AC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4674" y="5435194"/>
            <a:ext cx="285293" cy="285293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828800" y="5367528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invents</a:t>
            </a:r>
            <a:endParaRPr lang="en-US" sz="1500" dirty="0"/>
          </a:p>
        </p:txBody>
      </p:sp>
      <p:sp>
        <p:nvSpPr>
          <p:cNvPr id="51" name="Text 41"/>
          <p:cNvSpPr txBox="1"/>
          <p:nvPr/>
        </p:nvSpPr>
        <p:spPr>
          <a:xfrm>
            <a:off x="1143000" y="6035040"/>
            <a:ext cx="344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&amp; availability come from your config and live tools — never the model's memory.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5273040" y="4983480"/>
            <a:ext cx="4084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3"/>
          <p:cNvSpPr/>
          <p:nvPr/>
        </p:nvSpPr>
        <p:spPr>
          <a:xfrm>
            <a:off x="559308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8" descr="assets/icons/file-text_115AC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4754" y="5435194"/>
            <a:ext cx="285293" cy="285293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6278880" y="5367528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explainable</a:t>
            </a:r>
            <a:endParaRPr lang="en-US" sz="1500" dirty="0"/>
          </a:p>
        </p:txBody>
      </p:sp>
      <p:sp>
        <p:nvSpPr>
          <p:cNvPr id="56" name="Text 45"/>
          <p:cNvSpPr txBox="1"/>
          <p:nvPr/>
        </p:nvSpPr>
        <p:spPr>
          <a:xfrm>
            <a:off x="5593080" y="6035040"/>
            <a:ext cx="344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yields a transcript, a structured summary, and the tool calls made.</a:t>
            </a:r>
            <a:endParaRPr lang="en-US" sz="1200" dirty="0"/>
          </a:p>
        </p:txBody>
      </p:sp>
      <p:sp>
        <p:nvSpPr>
          <p:cNvPr id="57" name="Shape 46"/>
          <p:cNvSpPr/>
          <p:nvPr/>
        </p:nvSpPr>
        <p:spPr>
          <a:xfrm>
            <a:off x="9723120" y="4983480"/>
            <a:ext cx="4084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1004316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9" descr="assets/icons/badge-check_115AC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4834" y="5435194"/>
            <a:ext cx="285293" cy="285293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10728960" y="5367528"/>
            <a:ext cx="289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before write</a:t>
            </a:r>
            <a:endParaRPr lang="en-US" sz="1500" dirty="0"/>
          </a:p>
        </p:txBody>
      </p:sp>
      <p:sp>
        <p:nvSpPr>
          <p:cNvPr id="61" name="Text 49"/>
          <p:cNvSpPr txBox="1"/>
          <p:nvPr/>
        </p:nvSpPr>
        <p:spPr>
          <a:xfrm>
            <a:off x="10043160" y="6035040"/>
            <a:ext cx="344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read back verbatim and a re-check before booking — the owner can override.</a:t>
            </a:r>
            <a:endParaRPr lang="en-US" sz="1200" dirty="0"/>
          </a:p>
        </p:txBody>
      </p:sp>
      <p:sp>
        <p:nvSpPr>
          <p:cNvPr id="62" name="Text 50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63" name="Text 51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apps, one agent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through a stage-gated workflow — each app independent, all pointed at a single n8n webhook.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shot-webs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35356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2377440"/>
            <a:ext cx="3535680" cy="1627632"/>
          </a:xfrm>
          <a:prstGeom prst="rect">
            <a:avLst/>
          </a:prstGeom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143000" y="411480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website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498848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Netlify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828032"/>
            <a:ext cx="344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Static-first public site telling the Handled story, with one lead-capture endpoint.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718560" y="23957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3718560" y="2400300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A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27304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59308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ons/gaug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645" y="2598725"/>
            <a:ext cx="380390" cy="38039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68640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8168640" y="2564892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A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593080" y="33375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593080" y="373075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n8n · Supabase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593080" y="4114800"/>
            <a:ext cx="344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 over a 17-table Supabase schema, plus the multi-agent n8n backend. Inbox, bookings, conversion &amp; revenue.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72312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4316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icons/message-squar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725" y="2598725"/>
            <a:ext cx="380390" cy="38039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2618720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12618720" y="2564892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10043160" y="33375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harness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0043160" y="373075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SMS-style chat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043160" y="4114800"/>
            <a:ext cx="344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Impersonate ~30 seeded Acme customers, text as them, and watch the AI reply — the way the flow gets exercised.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64922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door:  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website, the dashboard, and the test harness all POST to the same </a:t>
            </a:r>
            <a:r>
              <a:rPr lang="en-US" sz="1300" dirty="0">
                <a:solidFill>
                  <a:srgbClr val="115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/webhook/handled/message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9951-5AD9-71EB-30F0-7A38E8FC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Intake &amp;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Entry webhook, validation &amp; auth, context loader, context gate, and the spam / injection guard.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72836" y="1965960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84248"/>
            <a:ext cx="68115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Webhook + validate &amp;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04872"/>
            <a:ext cx="7370064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Receives one inbound text, then checks the shared secret and required fields. No AI · no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840736"/>
            <a:ext cx="192270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POST /webhook/handled/message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9988" y="2840736"/>
            <a:ext cx="1134587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X-Handled-Secret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4892040" cy="1097280"/>
          </a:xfrm>
          <a:prstGeom prst="roundRect">
            <a:avLst>
              <a:gd name="adj" fmla="val 8333"/>
            </a:avLst>
          </a:prstGeom>
          <a:solidFill>
            <a:srgbClr val="FAEBEB"/>
          </a:solidFill>
          <a:ln w="12700">
            <a:solidFill>
              <a:srgbClr val="F1C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1984248"/>
            <a:ext cx="4489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42528"/>
                </a:solidFill>
                <a:latin typeface="Arial"/>
              </a:rPr>
              <a:t>Respond 4xx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368296"/>
            <a:ext cx="4489703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401 unauthorized · 400 validation — wrong secret or bad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24028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9864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154680"/>
            <a:ext cx="7772400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81591" y="3337560"/>
            <a:ext cx="1512600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Supabase 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355848"/>
            <a:ext cx="57203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Context 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776472"/>
            <a:ext cx="7370064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Builds the context bundle every later step reuses; resolves the org and the customer. No AI.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4212336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organizations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9993" y="4212336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business_profiles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8357" y="4212336"/>
            <a:ext cx="64958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41099" y="4212336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service_pricing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8214" y="4212336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service_areas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4079" y="4212336"/>
            <a:ext cx="101333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business_hours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00569" y="4212336"/>
            <a:ext cx="83146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technicians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541520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emergency_rules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71242" y="4541520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end_customers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97108" y="4541520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conversations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2973" y="4541520"/>
            <a:ext cx="64958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messages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45715" y="4541520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appointments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70001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956048"/>
            <a:ext cx="777240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44454" y="5138928"/>
            <a:ext cx="549737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Switch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5157216"/>
            <a:ext cx="66831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Context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577840"/>
            <a:ext cx="7370064" cy="19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Routes on the loader's control signal. No AI.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5846063"/>
            <a:ext cx="40709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ok 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4370" y="5846063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not_found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7737" y="5846063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opted_out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71103" y="5846063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duplicate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5400" y="4956048"/>
            <a:ext cx="4892040" cy="1051560"/>
          </a:xfrm>
          <a:prstGeom prst="roundRect">
            <a:avLst>
              <a:gd name="adj" fmla="val 8695"/>
            </a:avLst>
          </a:prstGeom>
          <a:solidFill>
            <a:srgbClr val="FFF9F0"/>
          </a:solidFill>
          <a:ln w="12700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16568" y="5157216"/>
            <a:ext cx="4489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6800"/>
                </a:solidFill>
                <a:latin typeface="Arial"/>
              </a:rPr>
              <a:t>Early exits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16568" y="5541264"/>
            <a:ext cx="4489703" cy="393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404 unknown business · opt-out (200) · idempotent replay (stored response)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47725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6025896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6281928"/>
            <a:ext cx="7772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138355" y="6464808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AI · Claude Haiku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" y="6483096"/>
            <a:ext cx="59770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Guard — spam + injection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" y="6903720"/>
            <a:ext cx="7370064" cy="19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Classifies each message on two axes; its output is never sent to the customer.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4128" y="7171944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temperature 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49993" y="7171944"/>
            <a:ext cx="77083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256 tokens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93984" y="7171944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no Supabase tools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15400" y="6281928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FAEBEB"/>
          </a:solidFill>
          <a:ln w="12700">
            <a:solidFill>
              <a:srgbClr val="F1C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16568" y="6483096"/>
            <a:ext cx="4489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42528"/>
                </a:solidFill>
                <a:latin typeface="Arial"/>
              </a:rPr>
              <a:t>Blocked (200)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16568" y="6867144"/>
            <a:ext cx="4489703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spam → persisted, not billed · injection → safe refusal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6830568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7543800"/>
            <a:ext cx="999073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/ switch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23201" y="754380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Claude Haiku (AI)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80206" y="7543800"/>
            <a:ext cx="1127455" cy="274320"/>
          </a:xfrm>
          <a:prstGeom prst="roundRect">
            <a:avLst>
              <a:gd name="adj" fmla="val 50000"/>
            </a:avLst>
          </a:prstGeom>
          <a:solidFill>
            <a:srgbClr val="F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942528"/>
                </a:solidFill>
                <a:latin typeface="Arial"/>
              </a:rPr>
              <a:t>Blocked / error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08829" y="7543800"/>
            <a:ext cx="806500" cy="274320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B36800"/>
                </a:solidFill>
                <a:latin typeface="Arial"/>
              </a:rPr>
              <a:t>Early exit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16498" y="754380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legit → Diagram 2</a:t>
            </a:r>
          </a:p>
        </p:txBody>
      </p:sp>
    </p:spTree>
    <p:extLst>
      <p:ext uri="{BB962C8B-B14F-4D97-AF65-F5344CB8AC3E}">
        <p14:creationId xmlns:p14="http://schemas.microsoft.com/office/powerpoint/2010/main" val="313029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26790-9AEB-6A23-6401-7AA4F182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Routing &amp;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The intent / language router, then six specialist agents on one shared Claude Sonnet node (1 of 2).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2984480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350435" y="192024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AI · Claude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38528"/>
            <a:ext cx="111891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Router — intent +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59152"/>
            <a:ext cx="125821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Picks exactly one intent, detects language (en / es) and multi-intent; its output is never sent to the customer. Biases toward emergency when unsure.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779776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temperature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9993" y="2779776"/>
            <a:ext cx="77083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256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3984" y="2779776"/>
            <a:ext cx="40709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227" y="2779776"/>
            <a:ext cx="77083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reschedule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8218" y="2779776"/>
            <a:ext cx="52834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cancel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19710" y="2779776"/>
            <a:ext cx="710214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emergency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3077" y="2779776"/>
            <a:ext cx="588965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pricing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5194" y="2779776"/>
            <a:ext cx="83146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out_of_area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9810" y="2779776"/>
            <a:ext cx="34646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faq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24912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999232"/>
            <a:ext cx="12984480" cy="676656"/>
          </a:xfrm>
          <a:prstGeom prst="roundRect">
            <a:avLst>
              <a:gd name="adj" fmla="val 13513"/>
            </a:avLst>
          </a:prstGeom>
          <a:solidFill>
            <a:srgbClr val="F7F0FF"/>
          </a:solidFill>
          <a:ln w="12700">
            <a:solidFill>
              <a:srgbClr val="F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258812" y="3145536"/>
            <a:ext cx="1320027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AI · Claude Sonnet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1272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600CC"/>
                </a:solidFill>
                <a:latin typeface="Arial"/>
              </a:rPr>
              <a:t>All six specialists share one Claude Sonnet model node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419856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temperature 0.3 · 1024 tokens · least-privilege tools · no raw SQL · routed to exactly one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730752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005072"/>
            <a:ext cx="4084319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753398" y="4187952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206240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New-Booking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608576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974336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Schedules a new service visit — readback, confirm, and a re-check of availability before any write.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650992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check_service_offered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34991" y="5650992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validate_service_area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97103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check_availability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53116" y="5971031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lookup_technician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291071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get_service_pricing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13741" y="629107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create_appointment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2730" y="6291071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add_waitlist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" y="6611111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capture_notes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49993" y="6611111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73040" y="4005072"/>
            <a:ext cx="4084319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03478" y="4187952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74208" y="4206240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Reschedule-Cancel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74208" y="4608576"/>
            <a:ext cx="1801459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reschedule / cancel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4208" y="4974336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Moves or cancels an existing appointment.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4208" y="5650992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check_availability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03196" y="5650992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lookup_appointment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4208" y="597103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update_appointment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03196" y="5971031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cancel_appointment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23120" y="4005072"/>
            <a:ext cx="4084319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2653558" y="4187952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4288" y="4206240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Emergency-Triage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24288" y="4608576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emergency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4288" y="4974336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Handles life-safety situations — advises, logs, and escalates for dispatch.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24288" y="5650992"/>
            <a:ext cx="137708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match_emergency_rule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374526" y="5650992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advise_safety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400391" y="5650992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escalate_to_human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24288" y="5971031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log_emergency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7269480"/>
            <a:ext cx="2090318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Claude Haiku — classifier (AI)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14446" y="7269480"/>
            <a:ext cx="2154509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Claude Sonnet — specialist (AI)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70123" y="7269480"/>
            <a:ext cx="549737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intent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21028" y="7269480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tool</a:t>
            </a:r>
          </a:p>
        </p:txBody>
      </p:sp>
    </p:spTree>
    <p:extLst>
      <p:ext uri="{BB962C8B-B14F-4D97-AF65-F5344CB8AC3E}">
        <p14:creationId xmlns:p14="http://schemas.microsoft.com/office/powerpoint/2010/main" val="159028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Routing &amp;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The remaining three specialists on the shared Claude Sonnet node — pricing, out-of-area, and the FAQ catch-all (2 of 2).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2984480" cy="676656"/>
          </a:xfrm>
          <a:prstGeom prst="roundRect">
            <a:avLst>
              <a:gd name="adj" fmla="val 13513"/>
            </a:avLst>
          </a:prstGeom>
          <a:solidFill>
            <a:srgbClr val="F7F0FF"/>
          </a:solidFill>
          <a:ln w="12700">
            <a:solidFill>
              <a:srgbClr val="F2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258812" y="1929384"/>
            <a:ext cx="1320027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AI · Claude Sonnet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11095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600CC"/>
                </a:solidFill>
                <a:latin typeface="Arial"/>
              </a:rPr>
              <a:t>All six specialists share one Claude Sonnet model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203704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temperature 0.3 · 1024 tokens · least-privilege tools · no raw SQL · routed to exactly one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1460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4084319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53398" y="297180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990088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Pricing-Quote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392424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58184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Answers cost / quote questions using configured price ranges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434840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check_service_offered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34991" y="4434840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get_service_pricing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754879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3040" y="2788920"/>
            <a:ext cx="4084319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03478" y="297180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4208" y="2990088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Out-of-Area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4208" y="3392424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out_of_area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4208" y="3758184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Handles requests outside the service area and captures the lead.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74208" y="4434840"/>
            <a:ext cx="143771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validate_service_area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5071" y="4434840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3120" y="2788920"/>
            <a:ext cx="4084319" cy="34290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653558" y="297180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4288" y="2990088"/>
            <a:ext cx="26195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General-FAQ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4288" y="3392424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faq / else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4288" y="3758184"/>
            <a:ext cx="368198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Answers questions, status / ETA, confirmations, callbacks, opt-out, and human handoff.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4288" y="4434840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lookup_appointment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253276" y="4434840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get_service_pricing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4288" y="4754879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get_business_facts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53276" y="4754879"/>
            <a:ext cx="101333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mark_confirmed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39767" y="4754879"/>
            <a:ext cx="952713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4288" y="5074919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schedule_callback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92652" y="5074919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capture_lead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157892" y="5074919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escalate_to_human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24288" y="5394959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honor_optout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6492240"/>
            <a:ext cx="2090318" cy="274320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115ACB"/>
                </a:solidFill>
                <a:latin typeface="Arial"/>
              </a:rPr>
              <a:t>Claude Haiku — classifier (AI)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14446" y="6492240"/>
            <a:ext cx="2154509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6600CC"/>
                </a:solidFill>
                <a:latin typeface="Arial"/>
              </a:rPr>
              <a:t>Claude Sonnet — specialist (AI)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70123" y="6492240"/>
            <a:ext cx="549737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intent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1028" y="6492240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tool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on Helpful, Honest, Harmless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cases run through the live agent and analyzed using Azure AI Foundry.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4084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70432" y="249631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circle-check_13A1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40" y="2654320"/>
            <a:ext cx="342351" cy="3423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260604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170432" y="3337560"/>
            <a:ext cx="3389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right service at a real, available slot and captures the correct name, address &amp; time.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4178808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correct-action rate · booking conversion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273040" y="2148840"/>
            <a:ext cx="4084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620512" y="249631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badge-check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520" y="2654320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760" y="260604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620512" y="3337560"/>
            <a:ext cx="3389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invents a price, slot, or policy; says “I'll have the owner confirm” when unsure.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620512" y="4178808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&lt; 1% · confirm compliance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723120" y="2148840"/>
            <a:ext cx="4084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070592" y="2496312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F2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icons/shield-check_7F00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600" y="2654320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11840" y="260604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Harmless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0070592" y="3337560"/>
            <a:ext cx="3389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Escalates every emergency, never books out of area, handles PII safely.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0070592" y="4178808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recall = 100% · misbooking ≤ 2%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4937760"/>
            <a:ext cx="6263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170432" y="52669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AEB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ons/triangle-alert_D134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2106" y="5398618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74520" y="53218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gates (go / no-go)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207008" y="5989320"/>
            <a:ext cx="5532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Critical failure blocks launch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recall must = 100%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&lt; 1%  ·  misbooking ≤ 2%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conversion ≥ manual baseline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543800" y="4937760"/>
            <a:ext cx="6263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891272" y="52669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icons/sparkles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2946" y="5398618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95360" y="53218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 export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927848" y="617220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8001000" y="6281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982712" y="6574536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9582912" y="6601968"/>
            <a:ext cx="393192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0030968" y="617220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 txBox="1"/>
          <p:nvPr/>
        </p:nvSpPr>
        <p:spPr>
          <a:xfrm>
            <a:off x="10104120" y="6281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0085832" y="6574536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· response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· reasoning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11686032" y="6601968"/>
            <a:ext cx="393192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12134088" y="617220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12207240" y="6281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12188952" y="6574536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schema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AD4E4-50A9-9E4D-0351-99C9D08E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006CB9-F21F-AB67-0234-3D198D67BA57}"/>
              </a:ext>
            </a:extLst>
          </p:cNvPr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9377A-792F-10B4-6929-85FCF5451FBE}"/>
              </a:ext>
            </a:extLst>
          </p:cNvPr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on Helpful, Honest, Harmless</a:t>
            </a:r>
            <a:endParaRPr lang="en-US" sz="2900" dirty="0"/>
          </a:p>
        </p:txBody>
      </p:sp>
      <p:pic>
        <p:nvPicPr>
          <p:cNvPr id="4" name="Image 0" descr="assets/logo-mark.png">
            <a:extLst>
              <a:ext uri="{FF2B5EF4-FFF2-40B4-BE49-F238E27FC236}">
                <a16:creationId xmlns:a16="http://schemas.microsoft.com/office/drawing/2014/main" id="{382C1242-FD0E-1977-9EE0-AC8EC7BC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1FB70E3-9A9E-5CCA-4074-74B11546A854}"/>
              </a:ext>
            </a:extLst>
          </p:cNvPr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cases run through the live agent and analyzed using Azure AI Foundry.</a:t>
            </a:r>
            <a:endParaRPr lang="en-US" sz="150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F66C8B51-7BD0-E364-6525-F5E20742DB9D}"/>
              </a:ext>
            </a:extLst>
          </p:cNvPr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00131DB3-B545-F3A6-35DA-39A941887B6E}"/>
              </a:ext>
            </a:extLst>
          </p:cNvPr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0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E5186DE-2937-9A2D-3001-5D3E0255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3" t="76998" r="45379"/>
          <a:stretch>
            <a:fillRect/>
          </a:stretch>
        </p:blipFill>
        <p:spPr>
          <a:xfrm>
            <a:off x="1506606" y="2093865"/>
            <a:ext cx="11502899" cy="126226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F55528B-70B2-9695-DAE3-566F52DA5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56" t="72275"/>
          <a:stretch>
            <a:fillRect/>
          </a:stretch>
        </p:blipFill>
        <p:spPr>
          <a:xfrm>
            <a:off x="1741878" y="5780934"/>
            <a:ext cx="11605991" cy="1457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45E7B8-8A7D-AF81-50F4-412E055A1D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1" t="72275" r="53122"/>
          <a:stretch>
            <a:fillRect/>
          </a:stretch>
        </p:blipFill>
        <p:spPr>
          <a:xfrm>
            <a:off x="1506606" y="4441770"/>
            <a:ext cx="10201333" cy="1556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1CF91-A92F-20AD-6A29-6659C76874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21" t="76998"/>
          <a:stretch>
            <a:fillRect/>
          </a:stretch>
        </p:blipFill>
        <p:spPr>
          <a:xfrm>
            <a:off x="1741878" y="3396887"/>
            <a:ext cx="10054348" cy="12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38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transparent pricing that makes ROI obvious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tiers with included usage and a hard cap — answering the category's #1 complaint: surprise billing.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8872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solo operator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business number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answering + booking into 1 FSM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 &amp; summaries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 · hard spend cap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7304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E7EFFC"/>
          </a:solidFill>
          <a:ln w="1270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574280" y="23957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574280" y="24048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63880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63880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563880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teams (2–10)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5708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&amp; warm transfer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Multi-tech dispatch logic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follow-up · Spanish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72312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08888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008888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1008888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/ high volume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10716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numbers &amp; locations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intelligence (sentiment, trends)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22960" y="5989320"/>
            <a:ext cx="12984480" cy="1417320"/>
          </a:xfrm>
          <a:prstGeom prst="roundRect">
            <a:avLst>
              <a:gd name="adj" fmla="val 7742"/>
            </a:avLst>
          </a:prstGeom>
          <a:solidFill>
            <a:srgbClr val="082A5E"/>
          </a:solidFill>
          <a:ln w="12700">
            <a:solidFill>
              <a:srgbClr val="08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188720" y="64008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assets/icons/hand-coi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61" y="6545641"/>
            <a:ext cx="313822" cy="31382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011680" y="622706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 Captured Opportunity Value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2011680" y="6629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recovered ~$1,200 job pays for months of Handled — above a budget receptionist, far below a $42–62K/yr office manager.</a:t>
            </a:r>
            <a:endParaRPr lang="en-US" sz="1250" dirty="0"/>
          </a:p>
        </p:txBody>
      </p:sp>
      <p:pic>
        <p:nvPicPr>
          <p:cNvPr id="28" name="Image 2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281928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04763" y="62362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price, no per-minute surprises</a:t>
            </a:r>
            <a:endParaRPr lang="en-US" sz="1200" dirty="0"/>
          </a:p>
        </p:txBody>
      </p:sp>
      <p:pic>
        <p:nvPicPr>
          <p:cNvPr id="30" name="Image 3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62940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904763" y="6583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spend cap you control</a:t>
            </a:r>
            <a:endParaRPr lang="en-US" sz="1200" dirty="0"/>
          </a:p>
        </p:txBody>
      </p:sp>
      <p:pic>
        <p:nvPicPr>
          <p:cNvPr id="32" name="Image 4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976872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904763" y="6931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charged for spam or hangups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&amp;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using dev-</a:t>
            </a:r>
            <a:r>
              <a:rPr lang="en-US" sz="2900" b="1" dirty="0" err="1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a modern agentic stack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148840"/>
            <a:ext cx="4297680" cy="4160520"/>
          </a:xfrm>
          <a:prstGeom prst="roundRect">
            <a:avLst>
              <a:gd name="adj" fmla="val 2637"/>
            </a:avLst>
          </a:prstGeom>
          <a:solidFill>
            <a:srgbClr val="082A5E"/>
          </a:solidFill>
          <a:ln w="12700">
            <a:solidFill>
              <a:srgbClr val="08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234440" y="26060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282549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build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46634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Designed, built, and deployed all three apps — the product brief, the architecture, the UI, the agentic backend, and the eval pipeline.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577840" y="2148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833872" y="23500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layers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767" y="247290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37960" y="2313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6426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· TS strict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875520" y="21488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131552" y="235000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databas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447" y="2472903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835640" y="2313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0835640" y="26426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tables · RLS · realtime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577840" y="3364992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833872" y="3566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git-branch_115A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767" y="3689055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37960" y="35295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537960" y="3858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52-node agentic workflow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9875520" y="3364992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10131552" y="35661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icons/bot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4447" y="3689055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835640" y="35295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0835640" y="3858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+ Haiku, tiered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577840" y="4581144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5833872" y="47823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assets/icons/sparkles_115A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767" y="4905207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537960" y="47457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653796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schema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9875520" y="4581144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10131552" y="47823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7" descr="assets/icons/globe_115AC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4447" y="4905207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0835640" y="47457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500" dirty="0"/>
          </a:p>
        </p:txBody>
      </p:sp>
      <p:sp>
        <p:nvSpPr>
          <p:cNvPr id="40" name="Text 30"/>
          <p:cNvSpPr txBox="1"/>
          <p:nvPr/>
        </p:nvSpPr>
        <p:spPr>
          <a:xfrm>
            <a:off x="1083564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live sites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577840" y="5797296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5833872" y="5998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8" descr="assets/icons/file-text_115AC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6767" y="6121359"/>
            <a:ext cx="266273" cy="266273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537960" y="59618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45" name="Text 34"/>
          <p:cNvSpPr txBox="1"/>
          <p:nvPr/>
        </p:nvSpPr>
        <p:spPr>
          <a:xfrm>
            <a:off x="6537960" y="6291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Zod contracts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9875520" y="5797296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6"/>
          <p:cNvSpPr/>
          <p:nvPr/>
        </p:nvSpPr>
        <p:spPr>
          <a:xfrm>
            <a:off x="10131552" y="5998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9" descr="assets/icons/circle-check_115AC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4447" y="6121359"/>
            <a:ext cx="266273" cy="266273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835640" y="59618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+ Playwright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10835640" y="62910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· integration · E2E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cs typeface="Arial" pitchFamily="34" charset="-120"/>
              </a:rPr>
              <a:t>My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choice in the flow answers a question a reviewer would ask.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route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063" y="260494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Multi-Agents Solutions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 enabled workflow depth and the ability to support multiple types of queries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27304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59308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gaug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143" y="26049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7888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work first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559308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Haiku classifiers filter spam and route intent before any Sonnet specialist runs.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72312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04316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lock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223" y="260494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72896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improves CX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004316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memory of previous chats and mixing that with customer context enables richer experience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296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14300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badge-check_115A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063" y="498238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82880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are essential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Evals are the best way to determine the effectiveness of an AI Agent system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27304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559308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icons/siren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143" y="4982383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27888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practices are key </a:t>
            </a:r>
            <a:endParaRPr lang="en-US" sz="1450" dirty="0"/>
          </a:p>
        </p:txBody>
      </p:sp>
      <p:sp>
        <p:nvSpPr>
          <p:cNvPr id="30" name="Text 22"/>
          <p:cNvSpPr txBox="1"/>
          <p:nvPr/>
        </p:nvSpPr>
        <p:spPr>
          <a:xfrm>
            <a:off x="559308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Dev-OS Helped me build the marketing, customer site, backend (</a:t>
            </a:r>
            <a:r>
              <a:rPr lang="en-US" sz="1200" dirty="0" err="1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supabase</a:t>
            </a: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, n8n) and test harness easily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72312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1004316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assets/icons/shield-check_115A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9223" y="4982383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72896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cs typeface="Arial" pitchFamily="34" charset="-120"/>
              </a:rPr>
              <a:t>Pricing for AI is challenging</a:t>
            </a:r>
            <a:endParaRPr lang="en-US" sz="1450" dirty="0"/>
          </a:p>
        </p:txBody>
      </p:sp>
      <p:sp>
        <p:nvSpPr>
          <p:cNvPr id="35" name="Text 26"/>
          <p:cNvSpPr txBox="1"/>
          <p:nvPr/>
        </p:nvSpPr>
        <p:spPr>
          <a:xfrm>
            <a:off x="1004316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already has 10 named players with price cutting already happening. VC capital is extending the fight. 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you Handled.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977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that answers, books, and follows up — so you never lose the next job to a missed call.</a:t>
            </a:r>
            <a:endParaRPr lang="en-US" sz="17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A6BCA7-7B4F-D27C-41E0-D74808BDC7A7}"/>
              </a:ext>
            </a:extLst>
          </p:cNvPr>
          <p:cNvGrpSpPr/>
          <p:nvPr/>
        </p:nvGrpSpPr>
        <p:grpSpPr>
          <a:xfrm>
            <a:off x="891540" y="5108628"/>
            <a:ext cx="10104120" cy="585216"/>
            <a:chOff x="822960" y="6108192"/>
            <a:chExt cx="10104120" cy="585216"/>
          </a:xfrm>
        </p:grpSpPr>
        <p:sp>
          <p:nvSpPr>
            <p:cNvPr id="14" name="Shape 9"/>
            <p:cNvSpPr/>
            <p:nvPr/>
          </p:nvSpPr>
          <p:spPr>
            <a:xfrm>
              <a:off x="822960" y="61264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0"/>
            <p:cNvSpPr txBox="1"/>
            <p:nvPr/>
          </p:nvSpPr>
          <p:spPr>
            <a:xfrm>
              <a:off x="1600200" y="61081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GitHub Repo</a:t>
              </a:r>
              <a:endParaRPr lang="en-US" sz="1300" dirty="0"/>
            </a:p>
          </p:txBody>
        </p:sp>
        <p:sp>
          <p:nvSpPr>
            <p:cNvPr id="17" name="Text 11"/>
            <p:cNvSpPr txBox="1"/>
            <p:nvPr/>
          </p:nvSpPr>
          <p:spPr>
            <a:xfrm>
              <a:off x="1600200" y="64008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https://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github.com</a:t>
              </a: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JohnFrancisPM</a:t>
              </a: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/Handled</a:t>
              </a:r>
              <a:endParaRPr lang="en-US" sz="1400" dirty="0"/>
            </a:p>
          </p:txBody>
        </p:sp>
        <p:sp>
          <p:nvSpPr>
            <p:cNvPr id="18" name="Shape 12"/>
            <p:cNvSpPr/>
            <p:nvPr/>
          </p:nvSpPr>
          <p:spPr>
            <a:xfrm>
              <a:off x="5943600" y="61264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4" descr="assets/icons/message-square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9663" y="6262543"/>
              <a:ext cx="294803" cy="294803"/>
            </a:xfrm>
            <a:prstGeom prst="rect">
              <a:avLst/>
            </a:prstGeom>
          </p:spPr>
        </p:pic>
        <p:sp>
          <p:nvSpPr>
            <p:cNvPr id="20" name="Text 13"/>
            <p:cNvSpPr txBox="1"/>
            <p:nvPr/>
          </p:nvSpPr>
          <p:spPr>
            <a:xfrm>
              <a:off x="6720840" y="61081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cs typeface="Arial" pitchFamily="34" charset="-120"/>
                </a:rPr>
                <a:t>Handled Website</a:t>
              </a:r>
              <a:endParaRPr lang="en-US" sz="1300" dirty="0"/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6720840" y="64008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handled-website-ajik.netlify.app</a:t>
              </a:r>
              <a:endParaRPr lang="en-US" sz="1400" dirty="0"/>
            </a:p>
          </p:txBody>
        </p:sp>
      </p:grpSp>
      <p:sp>
        <p:nvSpPr>
          <p:cNvPr id="22" name="Text 15"/>
          <p:cNvSpPr txBox="1"/>
          <p:nvPr/>
        </p:nvSpPr>
        <p:spPr>
          <a:xfrm>
            <a:off x="822960" y="7680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  ·  AI Product Capstone  ·  2026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58220B-3A82-9828-2EAC-38BBCEF9ACF3}"/>
              </a:ext>
            </a:extLst>
          </p:cNvPr>
          <p:cNvGrpSpPr/>
          <p:nvPr/>
        </p:nvGrpSpPr>
        <p:grpSpPr>
          <a:xfrm>
            <a:off x="822960" y="6291387"/>
            <a:ext cx="10104120" cy="733083"/>
            <a:chOff x="822960" y="5141155"/>
            <a:chExt cx="10104120" cy="733083"/>
          </a:xfrm>
        </p:grpSpPr>
        <p:sp>
          <p:nvSpPr>
            <p:cNvPr id="8" name="Text 4"/>
            <p:cNvSpPr txBox="1"/>
            <p:nvPr/>
          </p:nvSpPr>
          <p:spPr>
            <a:xfrm>
              <a:off x="1600200" y="51937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LinkedIn</a:t>
              </a:r>
              <a:endParaRPr lang="en-US" sz="1300" dirty="0"/>
            </a:p>
          </p:txBody>
        </p:sp>
        <p:sp>
          <p:nvSpPr>
            <p:cNvPr id="9" name="Text 5"/>
            <p:cNvSpPr txBox="1"/>
            <p:nvPr/>
          </p:nvSpPr>
          <p:spPr>
            <a:xfrm>
              <a:off x="1600200" y="54864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https://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www.linkedin.com</a:t>
              </a: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/in/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johnfrancisny</a:t>
              </a:r>
              <a:endParaRPr lang="en-US" sz="14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5943600" y="52120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assets/icons/mail_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79663" y="5348143"/>
              <a:ext cx="294803" cy="294803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6720840" y="51937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Email</a:t>
              </a:r>
              <a:endParaRPr lang="en-US" sz="13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6720840" y="54864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johnfrancis04@gmail.com</a:t>
              </a:r>
              <a:endParaRPr lang="en-US" sz="1400" dirty="0"/>
            </a:p>
          </p:txBody>
        </p:sp>
        <p:pic>
          <p:nvPicPr>
            <p:cNvPr id="25" name="Picture 24" descr="Transparent Linkedin Logo PNGs for Free Download">
              <a:extLst>
                <a:ext uri="{FF2B5EF4-FFF2-40B4-BE49-F238E27FC236}">
                  <a16:creationId xmlns:a16="http://schemas.microsoft.com/office/drawing/2014/main" id="{D1BAFC51-2958-93EE-D8F4-83DF77C7F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2960" y="5141155"/>
              <a:ext cx="733083" cy="733083"/>
            </a:xfrm>
            <a:prstGeom prst="rect">
              <a:avLst/>
            </a:prstGeom>
          </p:spPr>
        </p:pic>
      </p:grpSp>
      <p:pic>
        <p:nvPicPr>
          <p:cNvPr id="7" name="Picture 6" descr="Github White Icon SVG Vector &amp; PNG Free Download | UXWing">
            <a:extLst>
              <a:ext uri="{FF2B5EF4-FFF2-40B4-BE49-F238E27FC236}">
                <a16:creationId xmlns:a16="http://schemas.microsoft.com/office/drawing/2014/main" id="{94468FB2-6411-A468-C291-5809CFEEE8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246" y="5134385"/>
            <a:ext cx="527516" cy="5275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Persistence &amp;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243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Saving the turn and returning a reply — plus the safety net that keeps every response a 200.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A4C4F"/>
                </a:solidFill>
                <a:latin typeface="Arial"/>
              </a:rPr>
              <a:t>from specialist agent output 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7830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A4C4F"/>
                </a:solidFill>
                <a:latin typeface="Arial"/>
              </a:rPr>
              <a:t>from any LLM / agent / persist error 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6263640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8640" y="2331720"/>
            <a:ext cx="1576791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Supabase 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50008"/>
            <a:ext cx="4147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Persist + 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70632"/>
            <a:ext cx="5861303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Saves both turns and the scoring record, then updates the conversation. No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06496"/>
            <a:ext cx="1448409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messages — user 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5689" y="3206496"/>
            <a:ext cx="1897745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messages — assistant + 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6587" y="3206496"/>
            <a:ext cx="1897745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conversations · last_intent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535680"/>
            <a:ext cx="1576791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9525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conversations ·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1900" y="370332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6263640" cy="1371600"/>
          </a:xfrm>
          <a:prstGeom prst="roundRect">
            <a:avLst>
              <a:gd name="adj" fmla="val 6666"/>
            </a:avLst>
          </a:prstGeom>
          <a:solidFill>
            <a:srgbClr val="E7F6E7"/>
          </a:solidFill>
          <a:ln w="12700">
            <a:solidFill>
              <a:srgbClr val="92D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178807"/>
            <a:ext cx="58613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720A"/>
                </a:solidFill>
                <a:latin typeface="Arial"/>
              </a:rPr>
              <a:t>Respond — normal (200)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562855"/>
            <a:ext cx="586130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reply + intent + agent + actions + conversation_id + eval  ·  billed: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1503" y="4178808"/>
            <a:ext cx="613928" cy="274320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0D720A"/>
                </a:solidFill>
                <a:latin typeface="Arial"/>
              </a:rPr>
              <a:t>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148840"/>
            <a:ext cx="6263640" cy="1508760"/>
          </a:xfrm>
          <a:prstGeom prst="roundRect">
            <a:avLst>
              <a:gd name="adj" fmla="val 6060"/>
            </a:avLst>
          </a:prstGeom>
          <a:solidFill>
            <a:srgbClr val="FFF9F0"/>
          </a:solidFill>
          <a:ln w="12700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2350435" y="233172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safety 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350008"/>
            <a:ext cx="44683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6800"/>
                </a:solidFill>
                <a:latin typeface="Arial"/>
              </a:rPr>
              <a:t>Fallback handler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2770632"/>
            <a:ext cx="5861303" cy="362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Composes a safe reply whenever any upstream step errors. Emergency-aware. No AI.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4968" y="3206496"/>
            <a:ext cx="1384218" cy="256032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 w="9525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messages —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02338" y="3206496"/>
            <a:ext cx="1512600" cy="256032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 w="9525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notifications —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8091" y="3206496"/>
            <a:ext cx="2154509" cy="256032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 w="9525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>
                <a:solidFill>
                  <a:srgbClr val="4A4C4F"/>
                </a:solidFill>
                <a:latin typeface="Arial"/>
              </a:rPr>
              <a:t>escalations — if emergency-like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2740" y="3703320"/>
            <a:ext cx="365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977639"/>
            <a:ext cx="6263640" cy="1371600"/>
          </a:xfrm>
          <a:prstGeom prst="roundRect">
            <a:avLst>
              <a:gd name="adj" fmla="val 6666"/>
            </a:avLst>
          </a:prstGeom>
          <a:solidFill>
            <a:srgbClr val="FFF9F0"/>
          </a:solidFill>
          <a:ln w="12700">
            <a:solidFill>
              <a:srgbClr val="FFE3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44968" y="4178807"/>
            <a:ext cx="58613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6800"/>
                </a:solidFill>
                <a:latin typeface="Arial"/>
              </a:rPr>
              <a:t>Respond — fallback (200)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8" y="4562855"/>
            <a:ext cx="586130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intent: fallback · billed: false · never a 500 — the sender always gets a 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184916" y="4178808"/>
            <a:ext cx="421355" cy="274320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B36800"/>
                </a:solidFill>
                <a:latin typeface="Arial"/>
              </a:rPr>
              <a:t>safe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623560"/>
            <a:ext cx="12984480" cy="640080"/>
          </a:xfrm>
          <a:prstGeom prst="roundRect">
            <a:avLst>
              <a:gd name="adj" fmla="val 14285"/>
            </a:avLst>
          </a:prstGeom>
          <a:solidFill>
            <a:srgbClr val="F0F0F1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5623560"/>
            <a:ext cx="1243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0A0E"/>
                </a:solidFill>
                <a:latin typeface="Arial"/>
              </a:rPr>
              <a:t>Persist errors also route to the fallback handler</a:t>
            </a:r>
            <a:r>
              <a:rPr sz="1250" b="0" i="0">
                <a:solidFill>
                  <a:srgbClr val="4A4C4F"/>
                </a:solidFill>
                <a:latin typeface="Arial"/>
              </a:rPr>
              <a:t>   ·   both paths always return HTTP 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6583680"/>
            <a:ext cx="1576791" cy="274320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4A4C4F"/>
                </a:solidFill>
                <a:latin typeface="Arial"/>
              </a:rPr>
              <a:t>Code · Supabase writes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0919" y="6583680"/>
            <a:ext cx="1191646" cy="274320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0D720A"/>
                </a:solidFill>
                <a:latin typeface="Arial"/>
              </a:rPr>
              <a:t>Success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93733" y="6583680"/>
            <a:ext cx="1255836" cy="274320"/>
          </a:xfrm>
          <a:prstGeom prst="roundRect">
            <a:avLst>
              <a:gd name="adj" fmla="val 50000"/>
            </a:avLst>
          </a:prstGeom>
          <a:solidFill>
            <a:srgbClr val="FF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B36800"/>
                </a:solidFill>
                <a:latin typeface="Arial"/>
              </a:rPr>
              <a:t>Fallback / safety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Implementation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nodes, one entry point: </a:t>
            </a:r>
            <a:r>
              <a:rPr lang="en-US" sz="1400" dirty="0">
                <a:solidFill>
                  <a:srgbClr val="115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/webhook/handled/message</a:t>
            </a:r>
            <a:r>
              <a:rPr lang="en-US" sz="14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always a fixed JSON reply, never a 500.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63040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message-squa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714" y="2618842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688336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54096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94176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850" y="261884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45536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145536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· context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919472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285232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925312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icons/shield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86" y="2618842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76672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376672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· t0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50608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516368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156448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ons/spli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8122" y="26188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607808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607808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· t0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9381744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9747504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E7EFFC"/>
          </a:solidFill>
          <a:ln w="12700">
            <a:solidFill>
              <a:srgbClr val="B6C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0387584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assets/icons/bo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9258" y="2618842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38944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9838944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· t0.3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11612880" y="3086100"/>
            <a:ext cx="329184" cy="0"/>
          </a:xfrm>
          <a:prstGeom prst="line">
            <a:avLst/>
          </a:prstGeom>
          <a:noFill/>
          <a:ln w="19050">
            <a:solidFill>
              <a:srgbClr val="8F91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11978640" y="22860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2618720" y="2487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8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assets/icons/sen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50394" y="2618842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2070080" y="3108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12070080" y="3438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+ eval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9290304" y="41605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9473184" y="4361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7" descr="assets/icons/wrench_115AC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2912" y="4471416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067544" y="4288536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org-scoped tools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· no raw SQL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10661904" y="3886200"/>
            <a:ext cx="0" cy="274320"/>
          </a:xfrm>
          <a:prstGeom prst="line">
            <a:avLst/>
          </a:prstGeom>
          <a:noFill/>
          <a:ln w="1905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822960" y="5257800"/>
            <a:ext cx="12984480" cy="777240"/>
          </a:xfrm>
          <a:prstGeom prst="roundRect">
            <a:avLst>
              <a:gd name="adj" fmla="val 11765"/>
            </a:avLst>
          </a:prstGeom>
          <a:solidFill>
            <a:srgbClr val="FAEBEB"/>
          </a:solidFill>
          <a:ln w="12700">
            <a:solidFill>
              <a:srgbClr val="F1C0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7"/>
          <p:cNvSpPr/>
          <p:nvPr/>
        </p:nvSpPr>
        <p:spPr>
          <a:xfrm>
            <a:off x="1097280" y="5413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134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8" descr="assets/icons/shield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5522976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737360" y="5367528"/>
            <a:ext cx="1179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handler  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any LLM, agent, or DB error returns a safe 200 (owner notified, emergency-aware). The only non-200s are sender-fixable: 400 · 401 · 404.</a:t>
            </a:r>
            <a:endParaRPr lang="en-US" sz="1300" dirty="0"/>
          </a:p>
        </p:txBody>
      </p:sp>
      <p:sp>
        <p:nvSpPr>
          <p:cNvPr id="50" name="Shape 39"/>
          <p:cNvSpPr/>
          <p:nvPr/>
        </p:nvSpPr>
        <p:spPr>
          <a:xfrm>
            <a:off x="822960" y="6309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0"/>
          <p:cNvSpPr/>
          <p:nvPr/>
        </p:nvSpPr>
        <p:spPr>
          <a:xfrm>
            <a:off x="1024128" y="6464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9" descr="assets/icons/rout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00" y="6556980"/>
            <a:ext cx="199705" cy="19970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554480" y="6400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</a:t>
            </a:r>
            <a:endParaRPr lang="en-US" sz="1250" dirty="0"/>
          </a:p>
        </p:txBody>
      </p:sp>
      <p:sp>
        <p:nvSpPr>
          <p:cNvPr id="54" name="Shape 42"/>
          <p:cNvSpPr/>
          <p:nvPr/>
        </p:nvSpPr>
        <p:spPr>
          <a:xfrm>
            <a:off x="5257800" y="6309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3"/>
          <p:cNvSpPr/>
          <p:nvPr/>
        </p:nvSpPr>
        <p:spPr>
          <a:xfrm>
            <a:off x="5458968" y="6464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10" descr="assets/icons/gaug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1140" y="6556980"/>
            <a:ext cx="199705" cy="19970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5989320" y="6400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work first, expensive last</a:t>
            </a:r>
            <a:endParaRPr lang="en-US" sz="1250" dirty="0"/>
          </a:p>
        </p:txBody>
      </p:sp>
      <p:sp>
        <p:nvSpPr>
          <p:cNvPr id="58" name="Shape 45"/>
          <p:cNvSpPr/>
          <p:nvPr/>
        </p:nvSpPr>
        <p:spPr>
          <a:xfrm>
            <a:off x="9692640" y="63093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6"/>
          <p:cNvSpPr/>
          <p:nvPr/>
        </p:nvSpPr>
        <p:spPr>
          <a:xfrm>
            <a:off x="9893808" y="6464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11" descr="assets/icons/badge-check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5980" y="6556980"/>
            <a:ext cx="199705" cy="199705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10424160" y="64008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hand the customer a failure</a:t>
            </a:r>
            <a:endParaRPr lang="en-US" sz="1250" dirty="0"/>
          </a:p>
        </p:txBody>
      </p:sp>
      <p:sp>
        <p:nvSpPr>
          <p:cNvPr id="62" name="Text 48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63" name="Text 49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Handled wins — and keeps winning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receptionist takes a message. Handled does the work that comes after “hello.”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88720" y="253288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calendar-check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674" y="2712842"/>
            <a:ext cx="389900" cy="389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48840" y="256032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Dispatch-grade FSM integration (Soon)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2148840" y="324612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real job into Jobber, Housecall Pro, or ServiceTitan — respecting technician skills, live availability, and service area. Not a Google Calendar event.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520940" y="214884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886700" y="253288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briefcas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654" y="2712842"/>
            <a:ext cx="389900" cy="389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46820" y="256032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Office-manager scope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846820" y="324612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text-back, quote follow-up, reminders, and review requests — all tied to the same job record. Expands revenue and raises switching cost.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470916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188720" y="509320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siren_D134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674" y="5273162"/>
            <a:ext cx="389900" cy="389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148840" y="512064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Trade-aware emergency triage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2148840" y="580644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a burst pipe from a leaky faucet and escalates the real ones to the on-call tech. Biased toward escalation — a false alarm is cheap, a missed emergency is not.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520940" y="4709160"/>
            <a:ext cx="62865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886700" y="5093208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shield-check_13A1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654" y="5273162"/>
            <a:ext cx="389900" cy="389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846820" y="5120640"/>
            <a:ext cx="46863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transparent pricing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8846820" y="5806440"/>
            <a:ext cx="46863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price, a hard spend cap you control, and no charge for spam or hangups — answering the category's #1 complaint: surprise billing.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MVP to launch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value + highest frequency first; the riskiest surfaces get the most guardrail investment.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~8–10 wks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 + book into Jobber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Service-area check · SMS confirm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+ summary + notify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 · flat pricing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4909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6913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0D46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46913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46913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+6–8 wks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9656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+ warm transfer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Housecall Pro + ServiceTitan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business rules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v1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/ Spanish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7522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9526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7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9526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9526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+8–10 wks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82269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Multi-tech dispatch logic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follow-up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support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A2P 10DLC at scale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+ spend caps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80135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112139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4A4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112139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112139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14882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intelligence &amp; tagging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FSM / CRM integrations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trades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Quality-score metric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 polish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2768</Words>
  <Application>Microsoft Macintosh PowerPoint</Application>
  <PresentationFormat>Custom</PresentationFormat>
  <Paragraphs>502</Paragraphs>
  <Slides>19</Slides>
  <Notes>17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Handled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Handled — Pitch Deck</dc:title>
  <dc:subject>PptxGenJS Presentation</dc:subject>
  <dc:creator>John Francis</dc:creator>
  <cp:lastModifiedBy>John Francis</cp:lastModifiedBy>
  <cp:revision>35</cp:revision>
  <dcterms:created xsi:type="dcterms:W3CDTF">2026-10-08T17:51:35Z</dcterms:created>
  <dcterms:modified xsi:type="dcterms:W3CDTF">2026-10-23T16:57:29Z</dcterms:modified>
</cp:coreProperties>
</file>